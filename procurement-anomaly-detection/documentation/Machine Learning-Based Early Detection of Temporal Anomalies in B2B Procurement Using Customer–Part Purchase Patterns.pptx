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x="18288000" cy="10287000"/>
  <p:notesSz cx="6858000" cy="9144000"/>
  <p:embeddedFontLst>
    <p:embeddedFont>
      <p:font typeface="Anton" charset="1" panose="00000500000000000000"/>
      <p:regular r:id="rId23"/>
    </p:embeddedFont>
    <p:embeddedFont>
      <p:font typeface="Arial Unicode Bold" charset="1" panose="020B0704020202020204"/>
      <p:regular r:id="rId24"/>
    </p:embeddedFont>
    <p:embeddedFont>
      <p:font typeface="Arial Unicode" charset="1" panose="020B0604020202020204"/>
      <p:regular r:id="rId25"/>
    </p:embeddedFont>
    <p:embeddedFont>
      <p:font typeface="Inter Bold" charset="1" panose="02000503000000020004"/>
      <p:regular r:id="rId26"/>
    </p:embeddedFont>
    <p:embeddedFont>
      <p:font typeface="Inter" charset="1" panose="02000503000000020004"/>
      <p:regular r:id="rId27"/>
    </p:embeddedFont>
    <p:embeddedFont>
      <p:font typeface="Calibri (MS)" charset="1" panose="020F0502020204030204"/>
      <p:regular r:id="rId2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png" Type="http://schemas.openxmlformats.org/officeDocument/2006/relationships/image"/><Relationship Id="rId4" Target="../media/image5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002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795202" y="6392677"/>
            <a:ext cx="725658" cy="725658"/>
          </a:xfrm>
          <a:custGeom>
            <a:avLst/>
            <a:gdLst/>
            <a:ahLst/>
            <a:cxnLst/>
            <a:rect r="r" b="b" t="t" l="l"/>
            <a:pathLst>
              <a:path h="725658" w="725658">
                <a:moveTo>
                  <a:pt x="0" y="0"/>
                </a:moveTo>
                <a:lnTo>
                  <a:pt x="725658" y="0"/>
                </a:lnTo>
                <a:lnTo>
                  <a:pt x="725658" y="725658"/>
                </a:lnTo>
                <a:lnTo>
                  <a:pt x="0" y="72565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767140" y="1315329"/>
            <a:ext cx="16753720" cy="35825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9399"/>
              </a:lnSpc>
            </a:pPr>
            <a:r>
              <a:rPr lang="en-US" sz="8545" spc="-418">
                <a:solidFill>
                  <a:srgbClr val="FEDEE1"/>
                </a:solidFill>
                <a:latin typeface="Anton"/>
                <a:ea typeface="Anton"/>
                <a:cs typeface="Anton"/>
                <a:sym typeface="Anton"/>
              </a:rPr>
              <a:t>MACHINE LEARNING-BASED EARLY DETECTION OF TEMPORAL ANOMALIES IN B2B </a:t>
            </a:r>
            <a:r>
              <a:rPr lang="en-US" sz="8545" spc="-418">
                <a:solidFill>
                  <a:srgbClr val="FEDEE1"/>
                </a:solidFill>
                <a:latin typeface="Anton"/>
                <a:ea typeface="Anton"/>
                <a:cs typeface="Anton"/>
                <a:sym typeface="Anton"/>
              </a:rPr>
              <a:t>PROCUREMENT USING CUSTOMER–PART PURCHASE PATTERNS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1522484" y="8418342"/>
            <a:ext cx="5998376" cy="4059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007"/>
              </a:lnSpc>
            </a:pPr>
            <a:r>
              <a:rPr lang="en-US" b="true" sz="2919" spc="116">
                <a:solidFill>
                  <a:srgbClr val="FFFFFF"/>
                </a:solidFill>
                <a:latin typeface="Arial Unicode Bold"/>
                <a:ea typeface="Arial Unicode Bold"/>
                <a:cs typeface="Arial Unicode Bold"/>
                <a:sym typeface="Arial Unicode Bold"/>
              </a:rPr>
              <a:t>MID-SEMESTER FIRST REVIEW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67140" y="6392677"/>
            <a:ext cx="2862504" cy="4872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sz="3300" spc="-33">
                <a:solidFill>
                  <a:srgbClr val="FEDEE1"/>
                </a:solidFill>
                <a:latin typeface="Anton"/>
                <a:ea typeface="Anton"/>
                <a:cs typeface="Anton"/>
                <a:sym typeface="Anton"/>
              </a:rPr>
              <a:t>PRESENTED BY :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67140" y="6959355"/>
            <a:ext cx="3602746" cy="28484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38"/>
              </a:lnSpc>
            </a:pPr>
            <a:r>
              <a:rPr lang="en-US" sz="3115" spc="-31">
                <a:solidFill>
                  <a:srgbClr val="FFFFFF"/>
                </a:solidFill>
                <a:latin typeface="Arial Unicode"/>
                <a:ea typeface="Arial Unicode"/>
                <a:cs typeface="Arial Unicode"/>
                <a:sym typeface="Arial Unicode"/>
              </a:rPr>
              <a:t>(Group BE-A21)</a:t>
            </a:r>
          </a:p>
          <a:p>
            <a:pPr algn="l">
              <a:lnSpc>
                <a:spcPts val="3738"/>
              </a:lnSpc>
            </a:pPr>
            <a:r>
              <a:rPr lang="en-US" sz="3115" spc="-31">
                <a:solidFill>
                  <a:srgbClr val="FFFFFF"/>
                </a:solidFill>
                <a:latin typeface="Arial Unicode"/>
                <a:ea typeface="Arial Unicode"/>
                <a:cs typeface="Arial Unicode"/>
                <a:sym typeface="Arial Unicode"/>
              </a:rPr>
              <a:t>Jaydip Chavan</a:t>
            </a:r>
          </a:p>
          <a:p>
            <a:pPr algn="l">
              <a:lnSpc>
                <a:spcPts val="3738"/>
              </a:lnSpc>
            </a:pPr>
            <a:r>
              <a:rPr lang="en-US" sz="3115" spc="-31">
                <a:solidFill>
                  <a:srgbClr val="FFFFFF"/>
                </a:solidFill>
                <a:latin typeface="Arial Unicode"/>
                <a:ea typeface="Arial Unicode"/>
                <a:cs typeface="Arial Unicode"/>
                <a:sym typeface="Arial Unicode"/>
              </a:rPr>
              <a:t>Kaushal Borude</a:t>
            </a:r>
          </a:p>
          <a:p>
            <a:pPr algn="l">
              <a:lnSpc>
                <a:spcPts val="3738"/>
              </a:lnSpc>
            </a:pPr>
            <a:r>
              <a:rPr lang="en-US" sz="3115" spc="-31">
                <a:solidFill>
                  <a:srgbClr val="FFFFFF"/>
                </a:solidFill>
                <a:latin typeface="Arial Unicode"/>
                <a:ea typeface="Arial Unicode"/>
                <a:cs typeface="Arial Unicode"/>
                <a:sym typeface="Arial Unicode"/>
              </a:rPr>
              <a:t>Anuj Khaire</a:t>
            </a:r>
          </a:p>
          <a:p>
            <a:pPr algn="l">
              <a:lnSpc>
                <a:spcPts val="3738"/>
              </a:lnSpc>
            </a:pPr>
            <a:r>
              <a:rPr lang="en-US" sz="3115" spc="-31">
                <a:solidFill>
                  <a:srgbClr val="FFFFFF"/>
                </a:solidFill>
                <a:latin typeface="Arial Unicode"/>
                <a:ea typeface="Arial Unicode"/>
                <a:cs typeface="Arial Unicode"/>
                <a:sym typeface="Arial Unicode"/>
              </a:rPr>
              <a:t>Devanshu Nirmal</a:t>
            </a:r>
          </a:p>
          <a:p>
            <a:pPr algn="l">
              <a:lnSpc>
                <a:spcPts val="3738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5259722" y="6392677"/>
            <a:ext cx="2624746" cy="4872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sz="3300" spc="-33">
                <a:solidFill>
                  <a:srgbClr val="FEDEE1"/>
                </a:solidFill>
                <a:latin typeface="Anton"/>
                <a:ea typeface="Anton"/>
                <a:cs typeface="Anton"/>
                <a:sym typeface="Anton"/>
              </a:rPr>
              <a:t>PRESENTED TO :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259722" y="6959355"/>
            <a:ext cx="3602746" cy="4747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38"/>
              </a:lnSpc>
            </a:pPr>
            <a:r>
              <a:rPr lang="en-US" sz="3115" spc="-31">
                <a:solidFill>
                  <a:srgbClr val="FFFFFF"/>
                </a:solidFill>
                <a:latin typeface="Arial Unicode"/>
                <a:ea typeface="Arial Unicode"/>
                <a:cs typeface="Arial Unicode"/>
                <a:sym typeface="Arial Unicode"/>
              </a:rPr>
              <a:t>Rahul Diwate Sir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7002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91903" y="3548248"/>
            <a:ext cx="742788" cy="742788"/>
            <a:chOff x="0" y="0"/>
            <a:chExt cx="148699" cy="14869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8699" cy="148699"/>
            </a:xfrm>
            <a:custGeom>
              <a:avLst/>
              <a:gdLst/>
              <a:ahLst/>
              <a:cxnLst/>
              <a:rect r="r" b="b" t="t" l="l"/>
              <a:pathLst>
                <a:path h="148699" w="148699">
                  <a:moveTo>
                    <a:pt x="0" y="0"/>
                  </a:moveTo>
                  <a:lnTo>
                    <a:pt x="148699" y="0"/>
                  </a:lnTo>
                  <a:lnTo>
                    <a:pt x="148699" y="148699"/>
                  </a:lnTo>
                  <a:lnTo>
                    <a:pt x="0" y="148699"/>
                  </a:lnTo>
                  <a:close/>
                </a:path>
              </a:pathLst>
            </a:custGeom>
            <a:solidFill>
              <a:srgbClr val="FEDEE1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0"/>
              <a:ext cx="148699" cy="14869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9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891903" y="816104"/>
            <a:ext cx="8258809" cy="14268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1000"/>
              </a:lnSpc>
            </a:pPr>
            <a:r>
              <a:rPr lang="en-US" sz="10091" spc="-494">
                <a:solidFill>
                  <a:srgbClr val="FEDEE1"/>
                </a:solidFill>
                <a:latin typeface="Anton"/>
                <a:ea typeface="Anton"/>
                <a:cs typeface="Anton"/>
                <a:sym typeface="Anton"/>
              </a:rPr>
              <a:t>PROBLEM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91903" y="4516600"/>
            <a:ext cx="5186538" cy="13687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08"/>
              </a:lnSpc>
            </a:pPr>
            <a:r>
              <a:rPr lang="en-US" sz="3090" spc="-30">
                <a:solidFill>
                  <a:srgbClr val="FEDEE1"/>
                </a:solidFill>
                <a:latin typeface="Anton"/>
                <a:ea typeface="Anton"/>
                <a:cs typeface="Anton"/>
                <a:sym typeface="Anton"/>
              </a:rPr>
              <a:t>CUSTOMERS MAY REORDER THE</a:t>
            </a:r>
            <a:r>
              <a:rPr lang="en-US" sz="3090" spc="-30">
                <a:solidFill>
                  <a:srgbClr val="FEDEE1"/>
                </a:solidFill>
                <a:latin typeface="Anton"/>
                <a:ea typeface="Anton"/>
                <a:cs typeface="Anton"/>
                <a:sym typeface="Anton"/>
              </a:rPr>
              <a:t> SAME PART AT DIFFERENT TIME INTERVALS.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248921" y="4516600"/>
            <a:ext cx="4362025" cy="13687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08"/>
              </a:lnSpc>
            </a:pPr>
            <a:r>
              <a:rPr lang="en-US" sz="3090" spc="-30">
                <a:solidFill>
                  <a:srgbClr val="FEDEE1"/>
                </a:solidFill>
                <a:latin typeface="Anton"/>
                <a:ea typeface="Anton"/>
                <a:cs typeface="Anton"/>
                <a:sym typeface="Anton"/>
              </a:rPr>
              <a:t>REORDER TIMING VARIES ACROSS CUSTOMER–PART COMBINATIONS</a:t>
            </a:r>
            <a:r>
              <a:rPr lang="en-US" sz="3090" spc="-30">
                <a:solidFill>
                  <a:srgbClr val="FEDEE1"/>
                </a:solidFill>
                <a:latin typeface="Anton"/>
                <a:ea typeface="Anton"/>
                <a:cs typeface="Anton"/>
                <a:sym typeface="Anton"/>
              </a:rPr>
              <a:t>.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6248921" y="3548248"/>
            <a:ext cx="742788" cy="742788"/>
            <a:chOff x="0" y="0"/>
            <a:chExt cx="148699" cy="14869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48699" cy="148699"/>
            </a:xfrm>
            <a:custGeom>
              <a:avLst/>
              <a:gdLst/>
              <a:ahLst/>
              <a:cxnLst/>
              <a:rect r="r" b="b" t="t" l="l"/>
              <a:pathLst>
                <a:path h="148699" w="148699">
                  <a:moveTo>
                    <a:pt x="0" y="0"/>
                  </a:moveTo>
                  <a:lnTo>
                    <a:pt x="148699" y="0"/>
                  </a:lnTo>
                  <a:lnTo>
                    <a:pt x="148699" y="148699"/>
                  </a:lnTo>
                  <a:lnTo>
                    <a:pt x="0" y="148699"/>
                  </a:lnTo>
                  <a:close/>
                </a:path>
              </a:pathLst>
            </a:custGeom>
            <a:solidFill>
              <a:srgbClr val="FEDEE1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0"/>
              <a:ext cx="148699" cy="14869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99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046367" y="3687835"/>
            <a:ext cx="433860" cy="4636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08"/>
              </a:lnSpc>
            </a:pPr>
            <a:r>
              <a:rPr lang="en-US" sz="3090" spc="-30">
                <a:solidFill>
                  <a:srgbClr val="70020F"/>
                </a:solidFill>
                <a:latin typeface="Anton"/>
                <a:ea typeface="Anton"/>
                <a:cs typeface="Anton"/>
                <a:sym typeface="Anton"/>
              </a:rPr>
              <a:t>1.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403385" y="3687835"/>
            <a:ext cx="433860" cy="4636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08"/>
              </a:lnSpc>
            </a:pPr>
            <a:r>
              <a:rPr lang="en-US" sz="3090" spc="-30">
                <a:solidFill>
                  <a:srgbClr val="70020F"/>
                </a:solidFill>
                <a:latin typeface="Anton"/>
                <a:ea typeface="Anton"/>
                <a:cs typeface="Anton"/>
                <a:sym typeface="Anton"/>
              </a:rPr>
              <a:t>2.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891903" y="6437787"/>
            <a:ext cx="742788" cy="742788"/>
            <a:chOff x="0" y="0"/>
            <a:chExt cx="148699" cy="148699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48699" cy="148699"/>
            </a:xfrm>
            <a:custGeom>
              <a:avLst/>
              <a:gdLst/>
              <a:ahLst/>
              <a:cxnLst/>
              <a:rect r="r" b="b" t="t" l="l"/>
              <a:pathLst>
                <a:path h="148699" w="148699">
                  <a:moveTo>
                    <a:pt x="0" y="0"/>
                  </a:moveTo>
                  <a:lnTo>
                    <a:pt x="148699" y="0"/>
                  </a:lnTo>
                  <a:lnTo>
                    <a:pt x="148699" y="148699"/>
                  </a:lnTo>
                  <a:lnTo>
                    <a:pt x="0" y="148699"/>
                  </a:lnTo>
                  <a:close/>
                </a:path>
              </a:pathLst>
            </a:custGeom>
            <a:solidFill>
              <a:srgbClr val="FEDEE1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0"/>
              <a:ext cx="148699" cy="14869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99"/>
                </a:lnSpc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891903" y="7406138"/>
            <a:ext cx="5186538" cy="13687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08"/>
              </a:lnSpc>
            </a:pPr>
            <a:r>
              <a:rPr lang="en-US" sz="3090" spc="-30">
                <a:solidFill>
                  <a:srgbClr val="FEDEE1"/>
                </a:solidFill>
                <a:latin typeface="Anton"/>
                <a:ea typeface="Anton"/>
                <a:cs typeface="Anton"/>
                <a:sym typeface="Anton"/>
              </a:rPr>
              <a:t>A FIXED INTERVAL CANNOT REPRESE</a:t>
            </a:r>
            <a:r>
              <a:rPr lang="en-US" sz="3090" spc="-30">
                <a:solidFill>
                  <a:srgbClr val="FEDEE1"/>
                </a:solidFill>
                <a:latin typeface="Anton"/>
                <a:ea typeface="Anton"/>
                <a:cs typeface="Anton"/>
                <a:sym typeface="Anton"/>
              </a:rPr>
              <a:t>NT EVERY PURCHASING PATTERN.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6248921" y="7406138"/>
            <a:ext cx="5803583" cy="13687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08"/>
              </a:lnSpc>
            </a:pPr>
            <a:r>
              <a:rPr lang="en-US" sz="3090" spc="-30">
                <a:solidFill>
                  <a:srgbClr val="FEDEE1"/>
                </a:solidFill>
                <a:latin typeface="Anton"/>
                <a:ea typeface="Anton"/>
                <a:cs typeface="Anton"/>
                <a:sym typeface="Anton"/>
              </a:rPr>
              <a:t>THE PROJECT FOCUSES ON UNUSUALLY SHORT REORDER INTERVALS RELATIVE TO HISTORICAL BEHAVIOUR</a:t>
            </a:r>
            <a:r>
              <a:rPr lang="en-US" sz="3090" spc="-30">
                <a:solidFill>
                  <a:srgbClr val="FEDEE1"/>
                </a:solidFill>
                <a:latin typeface="Anton"/>
                <a:ea typeface="Anton"/>
                <a:cs typeface="Anton"/>
                <a:sym typeface="Anton"/>
              </a:rPr>
              <a:t>.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6248921" y="6437787"/>
            <a:ext cx="742788" cy="742788"/>
            <a:chOff x="0" y="0"/>
            <a:chExt cx="148699" cy="148699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48699" cy="148699"/>
            </a:xfrm>
            <a:custGeom>
              <a:avLst/>
              <a:gdLst/>
              <a:ahLst/>
              <a:cxnLst/>
              <a:rect r="r" b="b" t="t" l="l"/>
              <a:pathLst>
                <a:path h="148699" w="148699">
                  <a:moveTo>
                    <a:pt x="0" y="0"/>
                  </a:moveTo>
                  <a:lnTo>
                    <a:pt x="148699" y="0"/>
                  </a:lnTo>
                  <a:lnTo>
                    <a:pt x="148699" y="148699"/>
                  </a:lnTo>
                  <a:lnTo>
                    <a:pt x="0" y="148699"/>
                  </a:lnTo>
                  <a:close/>
                </a:path>
              </a:pathLst>
            </a:custGeom>
            <a:solidFill>
              <a:srgbClr val="FEDEE1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0"/>
              <a:ext cx="148699" cy="14869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99"/>
                </a:lnSpc>
              </a:pP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1036842" y="6577374"/>
            <a:ext cx="433860" cy="4636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08"/>
              </a:lnSpc>
            </a:pPr>
            <a:r>
              <a:rPr lang="en-US" sz="3090" spc="-30">
                <a:solidFill>
                  <a:srgbClr val="70020F"/>
                </a:solidFill>
                <a:latin typeface="Anton"/>
                <a:ea typeface="Anton"/>
                <a:cs typeface="Anton"/>
                <a:sym typeface="Anton"/>
              </a:rPr>
              <a:t>3.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6403385" y="6577374"/>
            <a:ext cx="433860" cy="4636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08"/>
              </a:lnSpc>
            </a:pPr>
            <a:r>
              <a:rPr lang="en-US" sz="3090" spc="-30">
                <a:solidFill>
                  <a:srgbClr val="70020F"/>
                </a:solidFill>
                <a:latin typeface="Anton"/>
                <a:ea typeface="Anton"/>
                <a:cs typeface="Anton"/>
                <a:sym typeface="Anton"/>
              </a:rPr>
              <a:t>4.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7002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91903" y="2146646"/>
            <a:ext cx="14231608" cy="1504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20"/>
              </a:lnSpc>
            </a:pPr>
            <a:r>
              <a:rPr lang="en-US" sz="3350" spc="-33">
                <a:solidFill>
                  <a:srgbClr val="FEDEE1"/>
                </a:solidFill>
                <a:latin typeface="Anton"/>
                <a:ea typeface="Anton"/>
                <a:cs typeface="Anton"/>
                <a:sym typeface="Anton"/>
              </a:rPr>
              <a:t>TO DEVELOP A TEMPORAL ANOMALY DETECTION APPROACH FOR IDENTIFYING UNUSUALLY EARLY </a:t>
            </a:r>
            <a:r>
              <a:rPr lang="en-US" sz="3350" spc="-33">
                <a:solidFill>
                  <a:srgbClr val="FEDEE1"/>
                </a:solidFill>
                <a:latin typeface="Anton"/>
                <a:ea typeface="Anton"/>
                <a:cs typeface="Anton"/>
                <a:sym typeface="Anton"/>
              </a:rPr>
              <a:t>REORDER EVENTS IN CUSTOMER–PART TRANSACTION HISTORIES USING INTER-PURCHASE INTERVALS.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482328" y="5429250"/>
            <a:ext cx="15817175" cy="3019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24268" indent="-362134" lvl="1">
              <a:lnSpc>
                <a:spcPts val="4025"/>
              </a:lnSpc>
              <a:buAutoNum type="arabicPeriod" startAt="1"/>
            </a:pPr>
            <a:r>
              <a:rPr lang="en-US" sz="3354" spc="-33">
                <a:solidFill>
                  <a:srgbClr val="FEDEE1"/>
                </a:solidFill>
                <a:latin typeface="Anton"/>
                <a:ea typeface="Anton"/>
                <a:cs typeface="Anton"/>
                <a:sym typeface="Anton"/>
              </a:rPr>
              <a:t>PREPROCESS DATA AND ORGANIZE PURCHASE RECORDS CHRONOLOGICALLY P</a:t>
            </a:r>
            <a:r>
              <a:rPr lang="en-US" sz="3354" spc="-33">
                <a:solidFill>
                  <a:srgbClr val="FEDEE1"/>
                </a:solidFill>
                <a:latin typeface="Anton"/>
                <a:ea typeface="Anton"/>
                <a:cs typeface="Anton"/>
                <a:sym typeface="Anton"/>
              </a:rPr>
              <a:t>ER CUSTOMER–PART COMBINATION.</a:t>
            </a:r>
          </a:p>
          <a:p>
            <a:pPr algn="l" marL="724268" indent="-362134" lvl="1">
              <a:lnSpc>
                <a:spcPts val="4025"/>
              </a:lnSpc>
              <a:buAutoNum type="arabicPeriod" startAt="1"/>
            </a:pPr>
            <a:r>
              <a:rPr lang="en-US" sz="3354" spc="-33">
                <a:solidFill>
                  <a:srgbClr val="FEDEE1"/>
                </a:solidFill>
                <a:latin typeface="Anton"/>
                <a:ea typeface="Anton"/>
                <a:cs typeface="Anton"/>
                <a:sym typeface="Anton"/>
              </a:rPr>
              <a:t>CALCULATE INTER-PURCHASE INTERVALS (IPI) FROM CONSECUTIVE PURCHASE RECORDS.</a:t>
            </a:r>
          </a:p>
          <a:p>
            <a:pPr algn="l" marL="724268" indent="-362134" lvl="1">
              <a:lnSpc>
                <a:spcPts val="4025"/>
              </a:lnSpc>
              <a:buAutoNum type="arabicPeriod" startAt="1"/>
            </a:pPr>
            <a:r>
              <a:rPr lang="en-US" sz="3354" spc="-33">
                <a:solidFill>
                  <a:srgbClr val="FEDEE1"/>
                </a:solidFill>
                <a:latin typeface="Anton"/>
                <a:ea typeface="Anton"/>
                <a:cs typeface="Anton"/>
                <a:sym typeface="Anton"/>
              </a:rPr>
              <a:t>ANALYSE HISTORICAL AND RECENT INTERVALS</a:t>
            </a:r>
            <a:r>
              <a:rPr lang="en-US" sz="3354" spc="-33">
                <a:solidFill>
                  <a:srgbClr val="FEDEE1"/>
                </a:solidFill>
                <a:latin typeface="Anton"/>
                <a:ea typeface="Anton"/>
                <a:cs typeface="Anton"/>
                <a:sym typeface="Anton"/>
              </a:rPr>
              <a:t> TO IDENTIFY UNUSUALLY EARLY EVENTS.</a:t>
            </a:r>
          </a:p>
          <a:p>
            <a:pPr algn="l" marL="724268" indent="-362134" lvl="1">
              <a:lnSpc>
                <a:spcPts val="4025"/>
              </a:lnSpc>
              <a:buAutoNum type="arabicPeriod" startAt="1"/>
            </a:pPr>
            <a:r>
              <a:rPr lang="en-US" sz="3354" spc="-33">
                <a:solidFill>
                  <a:srgbClr val="FEDEE1"/>
                </a:solidFill>
                <a:latin typeface="Anton"/>
                <a:ea typeface="Anton"/>
                <a:cs typeface="Anton"/>
                <a:sym typeface="Anton"/>
              </a:rPr>
              <a:t>DEVELOP AN ANOMALY SCORING APPROACH BASED ON DEVIATION FROM HISTORICAL BEHAVIOUR.</a:t>
            </a:r>
          </a:p>
          <a:p>
            <a:pPr algn="l" marL="724268" indent="-362134" lvl="1">
              <a:lnSpc>
                <a:spcPts val="4025"/>
              </a:lnSpc>
              <a:buAutoNum type="arabicPeriod" startAt="1"/>
            </a:pPr>
            <a:r>
              <a:rPr lang="en-US" sz="3354" spc="-33">
                <a:solidFill>
                  <a:srgbClr val="FEDEE1"/>
                </a:solidFill>
                <a:latin typeface="Anton"/>
                <a:ea typeface="Anton"/>
                <a:cs typeface="Anton"/>
                <a:sym typeface="Anton"/>
              </a:rPr>
              <a:t>EVALUATE THE PROPOSED APPROACH USING HISTORICAL DATA AND SYNTHETIC CASES.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891903" y="1343562"/>
            <a:ext cx="4086285" cy="7935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03"/>
              </a:lnSpc>
            </a:pPr>
            <a:r>
              <a:rPr lang="en-US" sz="6709">
                <a:solidFill>
                  <a:srgbClr val="FEDEE1"/>
                </a:solidFill>
                <a:latin typeface="Anton"/>
                <a:ea typeface="Anton"/>
                <a:cs typeface="Anton"/>
                <a:sym typeface="Anton"/>
              </a:rPr>
              <a:t>AIM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91903" y="4626166"/>
            <a:ext cx="4086285" cy="7935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03"/>
              </a:lnSpc>
            </a:pPr>
            <a:r>
              <a:rPr lang="en-US" sz="6709">
                <a:solidFill>
                  <a:srgbClr val="FEDEE1"/>
                </a:solidFill>
                <a:latin typeface="Anton"/>
                <a:ea typeface="Anton"/>
                <a:cs typeface="Anton"/>
                <a:sym typeface="Anton"/>
              </a:rPr>
              <a:t>OBJECTIVES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FEDE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1618551"/>
            <a:ext cx="9040391" cy="723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00"/>
              </a:lnSpc>
            </a:pPr>
            <a:r>
              <a:rPr lang="en-US" sz="6000" spc="-294">
                <a:solidFill>
                  <a:srgbClr val="70020F"/>
                </a:solidFill>
                <a:latin typeface="Anton"/>
                <a:ea typeface="Anton"/>
                <a:cs typeface="Anton"/>
                <a:sym typeface="Anton"/>
              </a:rPr>
              <a:t>EXPECTED OUTCOME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914400" y="3398044"/>
            <a:ext cx="3857625" cy="2728912"/>
            <a:chOff x="0" y="0"/>
            <a:chExt cx="5143500" cy="363855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43500" cy="3638550"/>
            </a:xfrm>
            <a:custGeom>
              <a:avLst/>
              <a:gdLst/>
              <a:ahLst/>
              <a:cxnLst/>
              <a:rect r="r" b="b" t="t" l="l"/>
              <a:pathLst>
                <a:path h="3638550" w="5143500">
                  <a:moveTo>
                    <a:pt x="0" y="228600"/>
                  </a:moveTo>
                  <a:cubicBezTo>
                    <a:pt x="0" y="102362"/>
                    <a:pt x="102362" y="0"/>
                    <a:pt x="228600" y="0"/>
                  </a:cubicBezTo>
                  <a:lnTo>
                    <a:pt x="4914900" y="0"/>
                  </a:lnTo>
                  <a:cubicBezTo>
                    <a:pt x="5041138" y="0"/>
                    <a:pt x="5143500" y="102362"/>
                    <a:pt x="5143500" y="228600"/>
                  </a:cubicBezTo>
                  <a:lnTo>
                    <a:pt x="5143500" y="3409950"/>
                  </a:lnTo>
                  <a:cubicBezTo>
                    <a:pt x="5143500" y="3536188"/>
                    <a:pt x="5041138" y="3638550"/>
                    <a:pt x="4914900" y="3638550"/>
                  </a:cubicBezTo>
                  <a:lnTo>
                    <a:pt x="228600" y="3638550"/>
                  </a:lnTo>
                  <a:cubicBezTo>
                    <a:pt x="102362" y="3638550"/>
                    <a:pt x="0" y="3536188"/>
                    <a:pt x="0" y="3409950"/>
                  </a:cubicBezTo>
                  <a:close/>
                </a:path>
              </a:pathLst>
            </a:custGeom>
            <a:solidFill>
              <a:srgbClr val="F8FAFC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5114925" y="3398044"/>
            <a:ext cx="3857625" cy="2728912"/>
            <a:chOff x="0" y="0"/>
            <a:chExt cx="5143500" cy="363855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143500" cy="3638550"/>
            </a:xfrm>
            <a:custGeom>
              <a:avLst/>
              <a:gdLst/>
              <a:ahLst/>
              <a:cxnLst/>
              <a:rect r="r" b="b" t="t" l="l"/>
              <a:pathLst>
                <a:path h="3638550" w="5143500">
                  <a:moveTo>
                    <a:pt x="0" y="228600"/>
                  </a:moveTo>
                  <a:cubicBezTo>
                    <a:pt x="0" y="102362"/>
                    <a:pt x="102362" y="0"/>
                    <a:pt x="228600" y="0"/>
                  </a:cubicBezTo>
                  <a:lnTo>
                    <a:pt x="4914900" y="0"/>
                  </a:lnTo>
                  <a:cubicBezTo>
                    <a:pt x="5041138" y="0"/>
                    <a:pt x="5143500" y="102362"/>
                    <a:pt x="5143500" y="228600"/>
                  </a:cubicBezTo>
                  <a:lnTo>
                    <a:pt x="5143500" y="3409950"/>
                  </a:lnTo>
                  <a:cubicBezTo>
                    <a:pt x="5143500" y="3536188"/>
                    <a:pt x="5041138" y="3638550"/>
                    <a:pt x="4914900" y="3638550"/>
                  </a:cubicBezTo>
                  <a:lnTo>
                    <a:pt x="228600" y="3638550"/>
                  </a:lnTo>
                  <a:cubicBezTo>
                    <a:pt x="102362" y="3638550"/>
                    <a:pt x="0" y="3536188"/>
                    <a:pt x="0" y="3409950"/>
                  </a:cubicBezTo>
                  <a:close/>
                </a:path>
              </a:pathLst>
            </a:custGeom>
            <a:solidFill>
              <a:srgbClr val="F8FAFC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9315450" y="3398044"/>
            <a:ext cx="3857625" cy="2728912"/>
            <a:chOff x="0" y="0"/>
            <a:chExt cx="5143500" cy="363855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143500" cy="3638550"/>
            </a:xfrm>
            <a:custGeom>
              <a:avLst/>
              <a:gdLst/>
              <a:ahLst/>
              <a:cxnLst/>
              <a:rect r="r" b="b" t="t" l="l"/>
              <a:pathLst>
                <a:path h="3638550" w="5143500">
                  <a:moveTo>
                    <a:pt x="0" y="228600"/>
                  </a:moveTo>
                  <a:cubicBezTo>
                    <a:pt x="0" y="102362"/>
                    <a:pt x="102362" y="0"/>
                    <a:pt x="228600" y="0"/>
                  </a:cubicBezTo>
                  <a:lnTo>
                    <a:pt x="4914900" y="0"/>
                  </a:lnTo>
                  <a:cubicBezTo>
                    <a:pt x="5041138" y="0"/>
                    <a:pt x="5143500" y="102362"/>
                    <a:pt x="5143500" y="228600"/>
                  </a:cubicBezTo>
                  <a:lnTo>
                    <a:pt x="5143500" y="3409950"/>
                  </a:lnTo>
                  <a:cubicBezTo>
                    <a:pt x="5143500" y="3536188"/>
                    <a:pt x="5041138" y="3638550"/>
                    <a:pt x="4914900" y="3638550"/>
                  </a:cubicBezTo>
                  <a:lnTo>
                    <a:pt x="228600" y="3638550"/>
                  </a:lnTo>
                  <a:cubicBezTo>
                    <a:pt x="102362" y="3638550"/>
                    <a:pt x="0" y="3536188"/>
                    <a:pt x="0" y="3409950"/>
                  </a:cubicBezTo>
                  <a:close/>
                </a:path>
              </a:pathLst>
            </a:custGeom>
            <a:solidFill>
              <a:srgbClr val="F8FAFC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13515975" y="3398044"/>
            <a:ext cx="3857625" cy="2728912"/>
            <a:chOff x="0" y="0"/>
            <a:chExt cx="5143500" cy="363855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143500" cy="3638550"/>
            </a:xfrm>
            <a:custGeom>
              <a:avLst/>
              <a:gdLst/>
              <a:ahLst/>
              <a:cxnLst/>
              <a:rect r="r" b="b" t="t" l="l"/>
              <a:pathLst>
                <a:path h="3638550" w="5143500">
                  <a:moveTo>
                    <a:pt x="0" y="228600"/>
                  </a:moveTo>
                  <a:cubicBezTo>
                    <a:pt x="0" y="102362"/>
                    <a:pt x="102362" y="0"/>
                    <a:pt x="228600" y="0"/>
                  </a:cubicBezTo>
                  <a:lnTo>
                    <a:pt x="4914900" y="0"/>
                  </a:lnTo>
                  <a:cubicBezTo>
                    <a:pt x="5041138" y="0"/>
                    <a:pt x="5143500" y="102362"/>
                    <a:pt x="5143500" y="228600"/>
                  </a:cubicBezTo>
                  <a:lnTo>
                    <a:pt x="5143500" y="3409950"/>
                  </a:lnTo>
                  <a:cubicBezTo>
                    <a:pt x="5143500" y="3536188"/>
                    <a:pt x="5041138" y="3638550"/>
                    <a:pt x="4914900" y="3638550"/>
                  </a:cubicBezTo>
                  <a:lnTo>
                    <a:pt x="228600" y="3638550"/>
                  </a:lnTo>
                  <a:cubicBezTo>
                    <a:pt x="102362" y="3638550"/>
                    <a:pt x="0" y="3536188"/>
                    <a:pt x="0" y="3409950"/>
                  </a:cubicBezTo>
                  <a:close/>
                </a:path>
              </a:pathLst>
            </a:custGeom>
            <a:solidFill>
              <a:srgbClr val="F8FAFC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914400" y="3398044"/>
            <a:ext cx="3857625" cy="57150"/>
            <a:chOff x="0" y="0"/>
            <a:chExt cx="5143500" cy="762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143500" cy="76200"/>
            </a:xfrm>
            <a:custGeom>
              <a:avLst/>
              <a:gdLst/>
              <a:ahLst/>
              <a:cxnLst/>
              <a:rect r="r" b="b" t="t" l="l"/>
              <a:pathLst>
                <a:path h="76200" w="5143500">
                  <a:moveTo>
                    <a:pt x="0" y="0"/>
                  </a:moveTo>
                  <a:lnTo>
                    <a:pt x="5143500" y="0"/>
                  </a:lnTo>
                  <a:lnTo>
                    <a:pt x="51435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0284C7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5114925" y="3398044"/>
            <a:ext cx="3857625" cy="57150"/>
            <a:chOff x="0" y="0"/>
            <a:chExt cx="5143500" cy="762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5143500" cy="76200"/>
            </a:xfrm>
            <a:custGeom>
              <a:avLst/>
              <a:gdLst/>
              <a:ahLst/>
              <a:cxnLst/>
              <a:rect r="r" b="b" t="t" l="l"/>
              <a:pathLst>
                <a:path h="76200" w="5143500">
                  <a:moveTo>
                    <a:pt x="0" y="0"/>
                  </a:moveTo>
                  <a:lnTo>
                    <a:pt x="5143500" y="0"/>
                  </a:lnTo>
                  <a:lnTo>
                    <a:pt x="51435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0284C7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9315450" y="3398044"/>
            <a:ext cx="3857625" cy="57150"/>
            <a:chOff x="0" y="0"/>
            <a:chExt cx="5143500" cy="762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5143500" cy="76200"/>
            </a:xfrm>
            <a:custGeom>
              <a:avLst/>
              <a:gdLst/>
              <a:ahLst/>
              <a:cxnLst/>
              <a:rect r="r" b="b" t="t" l="l"/>
              <a:pathLst>
                <a:path h="76200" w="5143500">
                  <a:moveTo>
                    <a:pt x="0" y="0"/>
                  </a:moveTo>
                  <a:lnTo>
                    <a:pt x="5143500" y="0"/>
                  </a:lnTo>
                  <a:lnTo>
                    <a:pt x="51435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0284C7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3515975" y="3398044"/>
            <a:ext cx="3857625" cy="57150"/>
            <a:chOff x="0" y="0"/>
            <a:chExt cx="5143500" cy="762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5143500" cy="76200"/>
            </a:xfrm>
            <a:custGeom>
              <a:avLst/>
              <a:gdLst/>
              <a:ahLst/>
              <a:cxnLst/>
              <a:rect r="r" b="b" t="t" l="l"/>
              <a:pathLst>
                <a:path h="76200" w="5143500">
                  <a:moveTo>
                    <a:pt x="0" y="0"/>
                  </a:moveTo>
                  <a:lnTo>
                    <a:pt x="5143500" y="0"/>
                  </a:lnTo>
                  <a:lnTo>
                    <a:pt x="51435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0284C7"/>
            </a:solid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860822" y="3921919"/>
            <a:ext cx="3964781" cy="833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80"/>
              </a:lnSpc>
            </a:pPr>
            <a:r>
              <a:rPr lang="en-US" sz="5400" b="true">
                <a:solidFill>
                  <a:srgbClr val="0F172A"/>
                </a:solidFill>
                <a:latin typeface="Inter Bold"/>
                <a:ea typeface="Inter Bold"/>
                <a:cs typeface="Inter Bold"/>
                <a:sym typeface="Inter Bold"/>
              </a:rPr>
              <a:t>01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761705" y="4974431"/>
            <a:ext cx="4163016" cy="695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0"/>
              </a:lnSpc>
            </a:pPr>
            <a:r>
              <a:rPr lang="en-US" sz="2250" b="true">
                <a:solidFill>
                  <a:srgbClr val="0F172A"/>
                </a:solidFill>
                <a:latin typeface="Inter Bold"/>
                <a:ea typeface="Inter Bold"/>
                <a:cs typeface="Inter Bold"/>
                <a:sym typeface="Inter Bold"/>
              </a:rPr>
              <a:t>Customer–Part</a:t>
            </a:r>
          </a:p>
          <a:p>
            <a:pPr algn="ctr">
              <a:lnSpc>
                <a:spcPts val="2700"/>
              </a:lnSpc>
            </a:pPr>
            <a:r>
              <a:rPr lang="en-US" sz="2250" b="true">
                <a:solidFill>
                  <a:srgbClr val="0F172A"/>
                </a:solidFill>
                <a:latin typeface="Inter Bold"/>
                <a:ea typeface="Inter Bold"/>
                <a:cs typeface="Inter Bold"/>
                <a:sym typeface="Inter Bold"/>
              </a:rPr>
              <a:t> Temporal Histories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5061347" y="3921919"/>
            <a:ext cx="3964781" cy="833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80"/>
              </a:lnSpc>
            </a:pPr>
            <a:r>
              <a:rPr lang="en-US" sz="5400" b="true">
                <a:solidFill>
                  <a:srgbClr val="0F172A"/>
                </a:solidFill>
                <a:latin typeface="Inter Bold"/>
                <a:ea typeface="Inter Bold"/>
                <a:cs typeface="Inter Bold"/>
                <a:sym typeface="Inter Bold"/>
              </a:rPr>
              <a:t>02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4962230" y="4974431"/>
            <a:ext cx="4163016" cy="695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0"/>
              </a:lnSpc>
            </a:pPr>
            <a:r>
              <a:rPr lang="en-US" sz="2250" b="true">
                <a:solidFill>
                  <a:srgbClr val="0F172A"/>
                </a:solidFill>
                <a:latin typeface="Inter Bold"/>
                <a:ea typeface="Inter Bold"/>
                <a:cs typeface="Inter Bold"/>
                <a:sym typeface="Inter Bold"/>
              </a:rPr>
              <a:t>Inter-Purchase</a:t>
            </a:r>
          </a:p>
          <a:p>
            <a:pPr algn="ctr">
              <a:lnSpc>
                <a:spcPts val="2700"/>
              </a:lnSpc>
            </a:pPr>
            <a:r>
              <a:rPr lang="en-US" sz="2250" b="true">
                <a:solidFill>
                  <a:srgbClr val="0F172A"/>
                </a:solidFill>
                <a:latin typeface="Inter Bold"/>
                <a:ea typeface="Inter Bold"/>
                <a:cs typeface="Inter Bold"/>
                <a:sym typeface="Inter Bold"/>
              </a:rPr>
              <a:t> Interval Analysis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261872" y="3921919"/>
            <a:ext cx="3964781" cy="833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80"/>
              </a:lnSpc>
            </a:pPr>
            <a:r>
              <a:rPr lang="en-US" sz="5400" b="true">
                <a:solidFill>
                  <a:srgbClr val="0F172A"/>
                </a:solidFill>
                <a:latin typeface="Inter Bold"/>
                <a:ea typeface="Inter Bold"/>
                <a:cs typeface="Inter Bold"/>
                <a:sym typeface="Inter Bold"/>
              </a:rPr>
              <a:t>03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162755" y="4974431"/>
            <a:ext cx="4163016" cy="695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0"/>
              </a:lnSpc>
            </a:pPr>
            <a:r>
              <a:rPr lang="en-US" sz="2250" b="true">
                <a:solidFill>
                  <a:srgbClr val="0F172A"/>
                </a:solidFill>
                <a:latin typeface="Inter Bold"/>
                <a:ea typeface="Inter Bold"/>
                <a:cs typeface="Inter Bold"/>
                <a:sym typeface="Inter Bold"/>
              </a:rPr>
              <a:t>Potentially Early</a:t>
            </a:r>
          </a:p>
          <a:p>
            <a:pPr algn="ctr">
              <a:lnSpc>
                <a:spcPts val="2700"/>
              </a:lnSpc>
            </a:pPr>
            <a:r>
              <a:rPr lang="en-US" sz="2250" b="true">
                <a:solidFill>
                  <a:srgbClr val="0F172A"/>
                </a:solidFill>
                <a:latin typeface="Inter Bold"/>
                <a:ea typeface="Inter Bold"/>
                <a:cs typeface="Inter Bold"/>
                <a:sym typeface="Inter Bold"/>
              </a:rPr>
              <a:t> Reorder Detection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3462397" y="3921919"/>
            <a:ext cx="3964781" cy="833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80"/>
              </a:lnSpc>
            </a:pPr>
            <a:r>
              <a:rPr lang="en-US" sz="5400" b="true">
                <a:solidFill>
                  <a:srgbClr val="0F172A"/>
                </a:solidFill>
                <a:latin typeface="Inter Bold"/>
                <a:ea typeface="Inter Bold"/>
                <a:cs typeface="Inter Bold"/>
                <a:sym typeface="Inter Bold"/>
              </a:rPr>
              <a:t>04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3363280" y="4974431"/>
            <a:ext cx="4163016" cy="695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0"/>
              </a:lnSpc>
            </a:pPr>
            <a:r>
              <a:rPr lang="en-US" sz="2250" b="true">
                <a:solidFill>
                  <a:srgbClr val="0F172A"/>
                </a:solidFill>
                <a:latin typeface="Inter Bold"/>
                <a:ea typeface="Inter Bold"/>
                <a:cs typeface="Inter Bold"/>
                <a:sym typeface="Inter Bold"/>
              </a:rPr>
              <a:t>Anomaly Scoring</a:t>
            </a:r>
          </a:p>
          <a:p>
            <a:pPr algn="ctr">
              <a:lnSpc>
                <a:spcPts val="2700"/>
              </a:lnSpc>
            </a:pPr>
            <a:r>
              <a:rPr lang="en-US" sz="2250" b="true">
                <a:solidFill>
                  <a:srgbClr val="0F172A"/>
                </a:solidFill>
                <a:latin typeface="Inter Bold"/>
                <a:ea typeface="Inter Bold"/>
                <a:cs typeface="Inter Bold"/>
                <a:sym typeface="Inter Bold"/>
              </a:rPr>
              <a:t> and Ranking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3672009" y="7174706"/>
            <a:ext cx="10981491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9"/>
              </a:lnSpc>
              <a:spcBef>
                <a:spcPct val="0"/>
              </a:spcBef>
            </a:pPr>
            <a:r>
              <a:rPr lang="en-US" b="true" sz="2257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Evaluation will determine the final feature configuration and anomaly threshold.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002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91903" y="895458"/>
            <a:ext cx="12917774" cy="7708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32"/>
              </a:lnSpc>
            </a:pPr>
            <a:r>
              <a:rPr lang="en-US" sz="6509" spc="-318">
                <a:solidFill>
                  <a:srgbClr val="FEDEE1"/>
                </a:solidFill>
                <a:latin typeface="Anton"/>
                <a:ea typeface="Anton"/>
                <a:cs typeface="Anton"/>
                <a:sym typeface="Anton"/>
              </a:rPr>
              <a:t>NATI</a:t>
            </a:r>
            <a:r>
              <a:rPr lang="en-US" sz="6509" spc="-318">
                <a:solidFill>
                  <a:srgbClr val="FEDEE1"/>
                </a:solidFill>
                <a:latin typeface="Anton"/>
                <a:ea typeface="Anton"/>
                <a:cs typeface="Anton"/>
                <a:sym typeface="Anton"/>
              </a:rPr>
              <a:t>ONAL AND INTERNATIONAL CURRENT STATUS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891903" y="2007094"/>
            <a:ext cx="14406495" cy="3458170"/>
            <a:chOff x="0" y="0"/>
            <a:chExt cx="19208660" cy="461089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9208660" cy="4610957"/>
            </a:xfrm>
            <a:custGeom>
              <a:avLst/>
              <a:gdLst/>
              <a:ahLst/>
              <a:cxnLst/>
              <a:rect r="r" b="b" t="t" l="l"/>
              <a:pathLst>
                <a:path h="4610957" w="19208660">
                  <a:moveTo>
                    <a:pt x="0" y="208169"/>
                  </a:moveTo>
                  <a:cubicBezTo>
                    <a:pt x="0" y="93214"/>
                    <a:pt x="89596" y="0"/>
                    <a:pt x="200090" y="0"/>
                  </a:cubicBezTo>
                  <a:lnTo>
                    <a:pt x="19008570" y="0"/>
                  </a:lnTo>
                  <a:cubicBezTo>
                    <a:pt x="19119064" y="0"/>
                    <a:pt x="19208660" y="93214"/>
                    <a:pt x="19208660" y="208169"/>
                  </a:cubicBezTo>
                  <a:lnTo>
                    <a:pt x="19208660" y="4402782"/>
                  </a:lnTo>
                  <a:cubicBezTo>
                    <a:pt x="19208660" y="4517737"/>
                    <a:pt x="19119064" y="4610957"/>
                    <a:pt x="19008570" y="4610957"/>
                  </a:cubicBezTo>
                  <a:lnTo>
                    <a:pt x="200090" y="4610957"/>
                  </a:lnTo>
                  <a:cubicBezTo>
                    <a:pt x="89596" y="4610957"/>
                    <a:pt x="0" y="4517737"/>
                    <a:pt x="0" y="4402782"/>
                  </a:cubicBezTo>
                  <a:close/>
                </a:path>
              </a:pathLst>
            </a:custGeom>
            <a:solidFill>
              <a:srgbClr val="F8FAFC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891903" y="5989139"/>
            <a:ext cx="14406495" cy="3373936"/>
            <a:chOff x="0" y="0"/>
            <a:chExt cx="19208660" cy="449858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9208660" cy="4498645"/>
            </a:xfrm>
            <a:custGeom>
              <a:avLst/>
              <a:gdLst/>
              <a:ahLst/>
              <a:cxnLst/>
              <a:rect r="r" b="b" t="t" l="l"/>
              <a:pathLst>
                <a:path h="4498645" w="19208660">
                  <a:moveTo>
                    <a:pt x="0" y="203099"/>
                  </a:moveTo>
                  <a:cubicBezTo>
                    <a:pt x="0" y="90943"/>
                    <a:pt x="89596" y="0"/>
                    <a:pt x="200090" y="0"/>
                  </a:cubicBezTo>
                  <a:lnTo>
                    <a:pt x="19008570" y="0"/>
                  </a:lnTo>
                  <a:cubicBezTo>
                    <a:pt x="19119064" y="0"/>
                    <a:pt x="19208660" y="90943"/>
                    <a:pt x="19208660" y="203099"/>
                  </a:cubicBezTo>
                  <a:lnTo>
                    <a:pt x="19208660" y="4295539"/>
                  </a:lnTo>
                  <a:cubicBezTo>
                    <a:pt x="19208660" y="4407695"/>
                    <a:pt x="19119064" y="4498645"/>
                    <a:pt x="19008570" y="4498645"/>
                  </a:cubicBezTo>
                  <a:lnTo>
                    <a:pt x="200090" y="4498645"/>
                  </a:lnTo>
                  <a:cubicBezTo>
                    <a:pt x="89596" y="4498645"/>
                    <a:pt x="0" y="4407695"/>
                    <a:pt x="0" y="4295539"/>
                  </a:cubicBezTo>
                  <a:close/>
                </a:path>
              </a:pathLst>
            </a:custGeom>
            <a:solidFill>
              <a:srgbClr val="F8FAFC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1463403" y="2359161"/>
            <a:ext cx="257175" cy="342900"/>
            <a:chOff x="0" y="0"/>
            <a:chExt cx="342900" cy="457200"/>
          </a:xfrm>
        </p:grpSpPr>
        <p:sp>
          <p:nvSpPr>
            <p:cNvPr name="Freeform 8" id="8" descr="image.png"/>
            <p:cNvSpPr/>
            <p:nvPr/>
          </p:nvSpPr>
          <p:spPr>
            <a:xfrm flipH="false" flipV="false" rot="0">
              <a:off x="0" y="0"/>
              <a:ext cx="342900" cy="457200"/>
            </a:xfrm>
            <a:custGeom>
              <a:avLst/>
              <a:gdLst/>
              <a:ahLst/>
              <a:cxnLst/>
              <a:rect r="r" b="b" t="t" l="l"/>
              <a:pathLst>
                <a:path h="457200" w="342900">
                  <a:moveTo>
                    <a:pt x="0" y="0"/>
                  </a:moveTo>
                  <a:lnTo>
                    <a:pt x="342900" y="0"/>
                  </a:lnTo>
                  <a:lnTo>
                    <a:pt x="342900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2083" r="0" b="-2083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1463403" y="6376943"/>
            <a:ext cx="317518" cy="342900"/>
            <a:chOff x="0" y="0"/>
            <a:chExt cx="423358" cy="457200"/>
          </a:xfrm>
        </p:grpSpPr>
        <p:sp>
          <p:nvSpPr>
            <p:cNvPr name="Freeform 10" id="10" descr="image.png"/>
            <p:cNvSpPr/>
            <p:nvPr/>
          </p:nvSpPr>
          <p:spPr>
            <a:xfrm flipH="false" flipV="false" rot="0">
              <a:off x="0" y="0"/>
              <a:ext cx="423358" cy="457200"/>
            </a:xfrm>
            <a:custGeom>
              <a:avLst/>
              <a:gdLst/>
              <a:ahLst/>
              <a:cxnLst/>
              <a:rect r="r" b="b" t="t" l="l"/>
              <a:pathLst>
                <a:path h="457200" w="423358">
                  <a:moveTo>
                    <a:pt x="0" y="0"/>
                  </a:moveTo>
                  <a:lnTo>
                    <a:pt x="423358" y="0"/>
                  </a:lnTo>
                  <a:lnTo>
                    <a:pt x="423358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836" t="0" r="-1836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892028" y="2193474"/>
            <a:ext cx="1025123" cy="650695"/>
            <a:chOff x="0" y="0"/>
            <a:chExt cx="1366830" cy="86759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366830" cy="867596"/>
            </a:xfrm>
            <a:custGeom>
              <a:avLst/>
              <a:gdLst/>
              <a:ahLst/>
              <a:cxnLst/>
              <a:rect r="r" b="b" t="t" l="l"/>
              <a:pathLst>
                <a:path h="867596" w="1366830">
                  <a:moveTo>
                    <a:pt x="0" y="0"/>
                  </a:moveTo>
                  <a:lnTo>
                    <a:pt x="1366830" y="0"/>
                  </a:lnTo>
                  <a:lnTo>
                    <a:pt x="1366830" y="867596"/>
                  </a:lnTo>
                  <a:lnTo>
                    <a:pt x="0" y="86759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58686" r="-1497221" b="-421916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0"/>
              <a:ext cx="1366830" cy="86759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719"/>
                </a:lnSpc>
              </a:pPr>
              <a:r>
                <a:rPr lang="en-US" sz="3099" b="true">
                  <a:solidFill>
                    <a:srgbClr val="0F172A"/>
                  </a:solidFill>
                  <a:latin typeface="Inter Bold"/>
                  <a:ea typeface="Inter Bold"/>
                  <a:cs typeface="Inter Bold"/>
                  <a:sym typeface="Inter Bold"/>
                </a:rPr>
                <a:t>India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939681" y="6246314"/>
            <a:ext cx="15082125" cy="650695"/>
            <a:chOff x="0" y="0"/>
            <a:chExt cx="20109500" cy="86759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0109500" cy="867596"/>
            </a:xfrm>
            <a:custGeom>
              <a:avLst/>
              <a:gdLst/>
              <a:ahLst/>
              <a:cxnLst/>
              <a:rect r="r" b="b" t="t" l="l"/>
              <a:pathLst>
                <a:path h="867596" w="20109500">
                  <a:moveTo>
                    <a:pt x="0" y="0"/>
                  </a:moveTo>
                  <a:lnTo>
                    <a:pt x="20109500" y="0"/>
                  </a:lnTo>
                  <a:lnTo>
                    <a:pt x="20109500" y="867596"/>
                  </a:lnTo>
                  <a:lnTo>
                    <a:pt x="0" y="86759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56119" r="-7993" b="-419349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0"/>
              <a:ext cx="20109500" cy="86759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719"/>
                </a:lnSpc>
              </a:pPr>
              <a:r>
                <a:rPr lang="en-US" sz="3099" b="true">
                  <a:solidFill>
                    <a:srgbClr val="0F172A"/>
                  </a:solidFill>
                  <a:latin typeface="Inter Bold"/>
                  <a:ea typeface="Inter Bold"/>
                  <a:cs typeface="Inter Bold"/>
                  <a:sym typeface="Inter Bold"/>
                </a:rPr>
                <a:t>International</a:t>
              </a: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1863453" y="2976381"/>
            <a:ext cx="16402050" cy="4410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37"/>
              </a:lnSpc>
            </a:pPr>
            <a:r>
              <a:rPr lang="en-US" sz="2424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Procurement and supply-chain digitization is increasing the availability of transaction data.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863453" y="3590744"/>
            <a:ext cx="16402050" cy="4410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37"/>
              </a:lnSpc>
            </a:pPr>
            <a:r>
              <a:rPr lang="en-US" sz="2424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GeM has incorporated AI/ML capabilities for procurement-related pattern analysis.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863453" y="4205106"/>
            <a:ext cx="12586161" cy="8982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37"/>
              </a:lnSpc>
            </a:pPr>
            <a:r>
              <a:rPr lang="en-US" sz="2424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Indian research has examined AI and big-data analytics in manufacturing and supply-chain environments.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833842" y="6933228"/>
            <a:ext cx="11070177" cy="4410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37"/>
              </a:lnSpc>
            </a:pPr>
            <a:r>
              <a:rPr lang="en-US" sz="2424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Research covers AI/ML applications in procurement and purchasing.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833842" y="7661866"/>
            <a:ext cx="13464557" cy="4410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37"/>
              </a:lnSpc>
            </a:pPr>
            <a:r>
              <a:rPr lang="en-US" sz="2424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Studies address forecasting, anomaly detection, supplier risk, and customer behaviour.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833842" y="8377194"/>
            <a:ext cx="12816424" cy="4410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37"/>
              </a:lnSpc>
            </a:pPr>
            <a:r>
              <a:rPr lang="en-US" sz="2424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Procurement decision-support continues to be an active research area.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463403" y="3016386"/>
            <a:ext cx="250865" cy="4010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62"/>
              </a:lnSpc>
            </a:pPr>
            <a:r>
              <a:rPr lang="en-US" sz="1974">
                <a:solidFill>
                  <a:srgbClr val="0284C7"/>
                </a:solidFill>
                <a:latin typeface="Calibri (MS)"/>
                <a:ea typeface="Calibri (MS)"/>
                <a:cs typeface="Calibri (MS)"/>
                <a:sym typeface="Calibri (MS)"/>
              </a:rPr>
              <a:t>■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463403" y="3612354"/>
            <a:ext cx="250865" cy="4010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62"/>
              </a:lnSpc>
            </a:pPr>
            <a:r>
              <a:rPr lang="en-US" sz="1974">
                <a:solidFill>
                  <a:srgbClr val="0284C7"/>
                </a:solidFill>
                <a:latin typeface="Calibri (MS)"/>
                <a:ea typeface="Calibri (MS)"/>
                <a:cs typeface="Calibri (MS)"/>
                <a:sym typeface="Calibri (MS)"/>
              </a:rPr>
              <a:t>■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463403" y="4251482"/>
            <a:ext cx="250865" cy="4010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62"/>
              </a:lnSpc>
            </a:pPr>
            <a:r>
              <a:rPr lang="en-US" sz="1974">
                <a:solidFill>
                  <a:srgbClr val="0284C7"/>
                </a:solidFill>
                <a:latin typeface="Calibri (MS)"/>
                <a:ea typeface="Calibri (MS)"/>
                <a:cs typeface="Calibri (MS)"/>
                <a:sym typeface="Calibri (MS)"/>
              </a:rPr>
              <a:t>■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463403" y="6986543"/>
            <a:ext cx="232296" cy="4010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62"/>
              </a:lnSpc>
            </a:pPr>
            <a:r>
              <a:rPr lang="en-US" sz="1974">
                <a:solidFill>
                  <a:srgbClr val="0284C7"/>
                </a:solidFill>
                <a:latin typeface="Calibri (MS)"/>
                <a:ea typeface="Calibri (MS)"/>
                <a:cs typeface="Calibri (MS)"/>
                <a:sym typeface="Calibri (MS)"/>
              </a:rPr>
              <a:t>■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463403" y="7701871"/>
            <a:ext cx="232296" cy="4010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62"/>
              </a:lnSpc>
            </a:pPr>
            <a:r>
              <a:rPr lang="en-US" sz="1974">
                <a:solidFill>
                  <a:srgbClr val="0284C7"/>
                </a:solidFill>
                <a:latin typeface="Calibri (MS)"/>
                <a:ea typeface="Calibri (MS)"/>
                <a:cs typeface="Calibri (MS)"/>
                <a:sym typeface="Calibri (MS)"/>
              </a:rPr>
              <a:t>■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463403" y="8411484"/>
            <a:ext cx="232296" cy="4010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62"/>
              </a:lnSpc>
            </a:pPr>
            <a:r>
              <a:rPr lang="en-US" sz="1974">
                <a:solidFill>
                  <a:srgbClr val="0284C7"/>
                </a:solidFill>
                <a:latin typeface="Calibri (MS)"/>
                <a:ea typeface="Calibri (MS)"/>
                <a:cs typeface="Calibri (MS)"/>
                <a:sym typeface="Calibri (MS)"/>
              </a:rPr>
              <a:t>■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7002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91903" y="3962400"/>
            <a:ext cx="15582619" cy="3476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25"/>
              </a:lnSpc>
            </a:pPr>
            <a:r>
              <a:rPr lang="en-US" sz="4604" spc="-46">
                <a:solidFill>
                  <a:srgbClr val="FEDEE1"/>
                </a:solidFill>
                <a:latin typeface="Anton"/>
                <a:ea typeface="Anton"/>
                <a:cs typeface="Anton"/>
                <a:sym typeface="Anton"/>
              </a:rPr>
              <a:t>THE PROJECT FOCUSES ON CUSTOMER–PART-LEVEL EARLY REORDER DETECTION BY ANALYSING INTER-PURCHASE INTERVALS, HISTORICAL AND RECENT PURCHASING BEHAVIOUR, AND TEMPORAL FEATURES TO IDENTIFY POTENTIALLY EARLY REORDER EVENTS RELATIVE TO THE SPECIFIC CUSTOMER–PART HISTORY.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1958166"/>
            <a:ext cx="4086285" cy="10392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88"/>
              </a:lnSpc>
            </a:pPr>
            <a:r>
              <a:rPr lang="en-US" sz="8809">
                <a:solidFill>
                  <a:srgbClr val="FEDEE1"/>
                </a:solidFill>
                <a:latin typeface="Anton"/>
                <a:ea typeface="Anton"/>
                <a:cs typeface="Anton"/>
                <a:sym typeface="Anton"/>
              </a:rPr>
              <a:t>NOVELTY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002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561229" y="8040435"/>
            <a:ext cx="3817266" cy="1608904"/>
            <a:chOff x="0" y="0"/>
            <a:chExt cx="1005371" cy="42374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05371" cy="423744"/>
            </a:xfrm>
            <a:custGeom>
              <a:avLst/>
              <a:gdLst/>
              <a:ahLst/>
              <a:cxnLst/>
              <a:rect r="r" b="b" t="t" l="l"/>
              <a:pathLst>
                <a:path h="423744" w="1005371">
                  <a:moveTo>
                    <a:pt x="0" y="0"/>
                  </a:moveTo>
                  <a:lnTo>
                    <a:pt x="1005371" y="0"/>
                  </a:lnTo>
                  <a:lnTo>
                    <a:pt x="1005371" y="423744"/>
                  </a:lnTo>
                  <a:lnTo>
                    <a:pt x="0" y="423744"/>
                  </a:lnTo>
                  <a:close/>
                </a:path>
              </a:pathLst>
            </a:custGeom>
            <a:ln w="19050" cap="sq">
              <a:solidFill>
                <a:srgbClr val="FEDEE1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1005371" cy="4332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18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901428" y="1323975"/>
            <a:ext cx="16749831" cy="10448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36"/>
              </a:lnSpc>
            </a:pPr>
            <a:r>
              <a:rPr lang="en-US" sz="8748" spc="-428">
                <a:solidFill>
                  <a:srgbClr val="FEDEE1"/>
                </a:solidFill>
                <a:latin typeface="Anton"/>
                <a:ea typeface="Anton"/>
                <a:cs typeface="Anton"/>
                <a:sym typeface="Anton"/>
              </a:rPr>
              <a:t>LITERATU</a:t>
            </a:r>
            <a:r>
              <a:rPr lang="en-US" sz="8748" spc="-428">
                <a:solidFill>
                  <a:srgbClr val="FEDEE1"/>
                </a:solidFill>
                <a:latin typeface="Anton"/>
                <a:ea typeface="Anton"/>
                <a:cs typeface="Anton"/>
                <a:sym typeface="Anton"/>
              </a:rPr>
              <a:t>RE REVIEW — RESEARCH LANDSCAPE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01428" y="8374295"/>
            <a:ext cx="1669326" cy="13126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412"/>
              </a:lnSpc>
            </a:pPr>
            <a:r>
              <a:rPr lang="en-US" sz="11073">
                <a:solidFill>
                  <a:srgbClr val="FEDEE1"/>
                </a:solidFill>
                <a:latin typeface="Anton"/>
                <a:ea typeface="Anton"/>
                <a:cs typeface="Anton"/>
                <a:sym typeface="Anton"/>
              </a:rPr>
              <a:t>25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836660" y="8284263"/>
            <a:ext cx="5528424" cy="11688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89"/>
              </a:lnSpc>
            </a:pPr>
            <a:r>
              <a:rPr lang="en-US" sz="3990" spc="-39">
                <a:solidFill>
                  <a:srgbClr val="FEDEE1"/>
                </a:solidFill>
                <a:latin typeface="Anton"/>
                <a:ea typeface="Anton"/>
                <a:cs typeface="Anton"/>
                <a:sym typeface="Anton"/>
              </a:rPr>
              <a:t>RESEARCH PAPERS </a:t>
            </a:r>
          </a:p>
          <a:p>
            <a:pPr algn="l">
              <a:lnSpc>
                <a:spcPts val="4789"/>
              </a:lnSpc>
            </a:pPr>
            <a:r>
              <a:rPr lang="en-US" sz="3990" spc="-39">
                <a:solidFill>
                  <a:srgbClr val="FEDEE1"/>
                </a:solidFill>
                <a:latin typeface="Anton"/>
                <a:ea typeface="Anton"/>
                <a:cs typeface="Anton"/>
                <a:sym typeface="Anton"/>
              </a:rPr>
              <a:t>REVI</a:t>
            </a:r>
            <a:r>
              <a:rPr lang="en-US" sz="3990" spc="-39">
                <a:solidFill>
                  <a:srgbClr val="FEDEE1"/>
                </a:solidFill>
                <a:latin typeface="Anton"/>
                <a:ea typeface="Anton"/>
                <a:cs typeface="Anton"/>
                <a:sym typeface="Anton"/>
              </a:rPr>
              <a:t>EWED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498328" y="3670115"/>
            <a:ext cx="4491832" cy="939781"/>
            <a:chOff x="0" y="0"/>
            <a:chExt cx="5372100" cy="112395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372100" cy="1123950"/>
            </a:xfrm>
            <a:custGeom>
              <a:avLst/>
              <a:gdLst/>
              <a:ahLst/>
              <a:cxnLst/>
              <a:rect r="r" b="b" t="t" l="l"/>
              <a:pathLst>
                <a:path h="1123950" w="5372100">
                  <a:moveTo>
                    <a:pt x="0" y="157734"/>
                  </a:moveTo>
                  <a:cubicBezTo>
                    <a:pt x="0" y="70612"/>
                    <a:pt x="70612" y="0"/>
                    <a:pt x="157734" y="0"/>
                  </a:cubicBezTo>
                  <a:lnTo>
                    <a:pt x="5214366" y="0"/>
                  </a:lnTo>
                  <a:cubicBezTo>
                    <a:pt x="5301488" y="0"/>
                    <a:pt x="5372100" y="70612"/>
                    <a:pt x="5372100" y="157734"/>
                  </a:cubicBezTo>
                  <a:lnTo>
                    <a:pt x="5372100" y="966216"/>
                  </a:lnTo>
                  <a:cubicBezTo>
                    <a:pt x="5372100" y="1053338"/>
                    <a:pt x="5301488" y="1123950"/>
                    <a:pt x="5214366" y="1123950"/>
                  </a:cubicBezTo>
                  <a:lnTo>
                    <a:pt x="157734" y="1123950"/>
                  </a:lnTo>
                  <a:cubicBezTo>
                    <a:pt x="70612" y="1123950"/>
                    <a:pt x="0" y="1053338"/>
                    <a:pt x="0" y="966216"/>
                  </a:cubicBez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0284C7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6898084" y="3670115"/>
            <a:ext cx="4491832" cy="939781"/>
            <a:chOff x="0" y="0"/>
            <a:chExt cx="5372100" cy="112395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372100" cy="1123950"/>
            </a:xfrm>
            <a:custGeom>
              <a:avLst/>
              <a:gdLst/>
              <a:ahLst/>
              <a:cxnLst/>
              <a:rect r="r" b="b" t="t" l="l"/>
              <a:pathLst>
                <a:path h="1123950" w="5372100">
                  <a:moveTo>
                    <a:pt x="0" y="157734"/>
                  </a:moveTo>
                  <a:cubicBezTo>
                    <a:pt x="0" y="70612"/>
                    <a:pt x="70612" y="0"/>
                    <a:pt x="157734" y="0"/>
                  </a:cubicBezTo>
                  <a:lnTo>
                    <a:pt x="5214366" y="0"/>
                  </a:lnTo>
                  <a:cubicBezTo>
                    <a:pt x="5301488" y="0"/>
                    <a:pt x="5372100" y="70612"/>
                    <a:pt x="5372100" y="157734"/>
                  </a:cubicBezTo>
                  <a:lnTo>
                    <a:pt x="5372100" y="966216"/>
                  </a:lnTo>
                  <a:cubicBezTo>
                    <a:pt x="5372100" y="1053338"/>
                    <a:pt x="5301488" y="1123950"/>
                    <a:pt x="5214366" y="1123950"/>
                  </a:cubicBezTo>
                  <a:lnTo>
                    <a:pt x="157734" y="1123950"/>
                  </a:lnTo>
                  <a:cubicBezTo>
                    <a:pt x="70612" y="1123950"/>
                    <a:pt x="0" y="1053338"/>
                    <a:pt x="0" y="966216"/>
                  </a:cubicBez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0284C7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12297840" y="3502866"/>
            <a:ext cx="4491832" cy="1274279"/>
            <a:chOff x="0" y="0"/>
            <a:chExt cx="5372100" cy="1524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372100" cy="1524127"/>
            </a:xfrm>
            <a:custGeom>
              <a:avLst/>
              <a:gdLst/>
              <a:ahLst/>
              <a:cxnLst/>
              <a:rect r="r" b="b" t="t" l="l"/>
              <a:pathLst>
                <a:path h="1524127" w="5372100">
                  <a:moveTo>
                    <a:pt x="0" y="156337"/>
                  </a:moveTo>
                  <a:cubicBezTo>
                    <a:pt x="0" y="69977"/>
                    <a:pt x="69977" y="0"/>
                    <a:pt x="156337" y="0"/>
                  </a:cubicBezTo>
                  <a:lnTo>
                    <a:pt x="5215763" y="0"/>
                  </a:lnTo>
                  <a:cubicBezTo>
                    <a:pt x="5302123" y="0"/>
                    <a:pt x="5372100" y="69977"/>
                    <a:pt x="5372100" y="156337"/>
                  </a:cubicBezTo>
                  <a:lnTo>
                    <a:pt x="5372100" y="1367790"/>
                  </a:lnTo>
                  <a:cubicBezTo>
                    <a:pt x="5372100" y="1454150"/>
                    <a:pt x="5302123" y="1524127"/>
                    <a:pt x="5215763" y="1524127"/>
                  </a:cubicBezTo>
                  <a:lnTo>
                    <a:pt x="156337" y="1524127"/>
                  </a:lnTo>
                  <a:cubicBezTo>
                    <a:pt x="69977" y="1524000"/>
                    <a:pt x="0" y="1454023"/>
                    <a:pt x="0" y="1367663"/>
                  </a:cubicBezTo>
                  <a:close/>
                </a:path>
              </a:pathLst>
            </a:custGeom>
            <a:solidFill>
              <a:srgbClr val="F0F9FF"/>
            </a:solidFill>
            <a:ln w="28575" cap="sq">
              <a:solidFill>
                <a:srgbClr val="0284C7"/>
              </a:solidFill>
              <a:prstDash val="solid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1498328" y="5509855"/>
            <a:ext cx="4486523" cy="1274279"/>
            <a:chOff x="0" y="0"/>
            <a:chExt cx="5365750" cy="1524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365750" cy="1524127"/>
            </a:xfrm>
            <a:custGeom>
              <a:avLst/>
              <a:gdLst/>
              <a:ahLst/>
              <a:cxnLst/>
              <a:rect r="r" b="b" t="t" l="l"/>
              <a:pathLst>
                <a:path h="1524127" w="5365750">
                  <a:moveTo>
                    <a:pt x="0" y="156337"/>
                  </a:moveTo>
                  <a:cubicBezTo>
                    <a:pt x="0" y="69977"/>
                    <a:pt x="69894" y="0"/>
                    <a:pt x="156152" y="0"/>
                  </a:cubicBezTo>
                  <a:lnTo>
                    <a:pt x="5209598" y="0"/>
                  </a:lnTo>
                  <a:cubicBezTo>
                    <a:pt x="5295855" y="0"/>
                    <a:pt x="5365750" y="69977"/>
                    <a:pt x="5365750" y="156337"/>
                  </a:cubicBezTo>
                  <a:lnTo>
                    <a:pt x="5365750" y="1367790"/>
                  </a:lnTo>
                  <a:cubicBezTo>
                    <a:pt x="5365750" y="1454150"/>
                    <a:pt x="5295855" y="1524127"/>
                    <a:pt x="5209598" y="1524127"/>
                  </a:cubicBezTo>
                  <a:lnTo>
                    <a:pt x="156152" y="1524127"/>
                  </a:lnTo>
                  <a:cubicBezTo>
                    <a:pt x="69894" y="1524000"/>
                    <a:pt x="0" y="1454023"/>
                    <a:pt x="0" y="1367663"/>
                  </a:cubicBez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0284C7"/>
              </a:solidFill>
              <a:prstDash val="solid"/>
              <a:miter/>
            </a:ln>
          </p:spPr>
        </p:sp>
      </p:grpSp>
      <p:grpSp>
        <p:nvGrpSpPr>
          <p:cNvPr name="Group 16" id="16"/>
          <p:cNvGrpSpPr/>
          <p:nvPr/>
        </p:nvGrpSpPr>
        <p:grpSpPr>
          <a:xfrm rot="0">
            <a:off x="6898084" y="5509855"/>
            <a:ext cx="4486523" cy="1274279"/>
            <a:chOff x="0" y="0"/>
            <a:chExt cx="5365750" cy="15240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365750" cy="1524127"/>
            </a:xfrm>
            <a:custGeom>
              <a:avLst/>
              <a:gdLst/>
              <a:ahLst/>
              <a:cxnLst/>
              <a:rect r="r" b="b" t="t" l="l"/>
              <a:pathLst>
                <a:path h="1524127" w="5365750">
                  <a:moveTo>
                    <a:pt x="0" y="156337"/>
                  </a:moveTo>
                  <a:cubicBezTo>
                    <a:pt x="0" y="69977"/>
                    <a:pt x="69894" y="0"/>
                    <a:pt x="156152" y="0"/>
                  </a:cubicBezTo>
                  <a:lnTo>
                    <a:pt x="5209598" y="0"/>
                  </a:lnTo>
                  <a:cubicBezTo>
                    <a:pt x="5295855" y="0"/>
                    <a:pt x="5365750" y="69977"/>
                    <a:pt x="5365750" y="156337"/>
                  </a:cubicBezTo>
                  <a:lnTo>
                    <a:pt x="5365750" y="1367790"/>
                  </a:lnTo>
                  <a:cubicBezTo>
                    <a:pt x="5365750" y="1454150"/>
                    <a:pt x="5295855" y="1524127"/>
                    <a:pt x="5209598" y="1524127"/>
                  </a:cubicBezTo>
                  <a:lnTo>
                    <a:pt x="156152" y="1524127"/>
                  </a:lnTo>
                  <a:cubicBezTo>
                    <a:pt x="69894" y="1524000"/>
                    <a:pt x="0" y="1454023"/>
                    <a:pt x="0" y="1367663"/>
                  </a:cubicBez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0284C7"/>
              </a:solidFill>
              <a:prstDash val="solid"/>
              <a:miter/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12297840" y="5509855"/>
            <a:ext cx="4491832" cy="1274279"/>
            <a:chOff x="0" y="0"/>
            <a:chExt cx="5372100" cy="15240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372100" cy="1524127"/>
            </a:xfrm>
            <a:custGeom>
              <a:avLst/>
              <a:gdLst/>
              <a:ahLst/>
              <a:cxnLst/>
              <a:rect r="r" b="b" t="t" l="l"/>
              <a:pathLst>
                <a:path h="1524127" w="5372100">
                  <a:moveTo>
                    <a:pt x="0" y="156337"/>
                  </a:moveTo>
                  <a:cubicBezTo>
                    <a:pt x="0" y="69977"/>
                    <a:pt x="69977" y="0"/>
                    <a:pt x="156337" y="0"/>
                  </a:cubicBezTo>
                  <a:lnTo>
                    <a:pt x="5215763" y="0"/>
                  </a:lnTo>
                  <a:cubicBezTo>
                    <a:pt x="5302123" y="0"/>
                    <a:pt x="5372100" y="69977"/>
                    <a:pt x="5372100" y="156337"/>
                  </a:cubicBezTo>
                  <a:lnTo>
                    <a:pt x="5372100" y="1367790"/>
                  </a:lnTo>
                  <a:cubicBezTo>
                    <a:pt x="5372100" y="1454150"/>
                    <a:pt x="5302123" y="1524127"/>
                    <a:pt x="5215763" y="1524127"/>
                  </a:cubicBezTo>
                  <a:lnTo>
                    <a:pt x="156337" y="1524127"/>
                  </a:lnTo>
                  <a:cubicBezTo>
                    <a:pt x="69977" y="1524000"/>
                    <a:pt x="0" y="1454023"/>
                    <a:pt x="0" y="1367663"/>
                  </a:cubicBez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0284C7"/>
              </a:solidFill>
              <a:prstDash val="solid"/>
              <a:miter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6356515" y="3996649"/>
            <a:ext cx="175213" cy="286713"/>
            <a:chOff x="0" y="0"/>
            <a:chExt cx="209550" cy="342900"/>
          </a:xfrm>
        </p:grpSpPr>
        <p:sp>
          <p:nvSpPr>
            <p:cNvPr name="Freeform 21" id="21" descr="image.png"/>
            <p:cNvSpPr/>
            <p:nvPr/>
          </p:nvSpPr>
          <p:spPr>
            <a:xfrm flipH="false" flipV="false" rot="0">
              <a:off x="0" y="0"/>
              <a:ext cx="209550" cy="342900"/>
            </a:xfrm>
            <a:custGeom>
              <a:avLst/>
              <a:gdLst/>
              <a:ahLst/>
              <a:cxnLst/>
              <a:rect r="r" b="b" t="t" l="l"/>
              <a:pathLst>
                <a:path h="342900" w="209550">
                  <a:moveTo>
                    <a:pt x="0" y="0"/>
                  </a:moveTo>
                  <a:lnTo>
                    <a:pt x="209550" y="0"/>
                  </a:lnTo>
                  <a:lnTo>
                    <a:pt x="209550" y="342900"/>
                  </a:lnTo>
                  <a:lnTo>
                    <a:pt x="0" y="342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2777" r="0" b="-2777"/>
              </a:stretch>
            </a:blip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1756271" y="3996649"/>
            <a:ext cx="175213" cy="286713"/>
            <a:chOff x="0" y="0"/>
            <a:chExt cx="209550" cy="342900"/>
          </a:xfrm>
        </p:grpSpPr>
        <p:sp>
          <p:nvSpPr>
            <p:cNvPr name="Freeform 23" id="23" descr="image.png"/>
            <p:cNvSpPr/>
            <p:nvPr/>
          </p:nvSpPr>
          <p:spPr>
            <a:xfrm flipH="false" flipV="false" rot="0">
              <a:off x="0" y="0"/>
              <a:ext cx="209550" cy="342900"/>
            </a:xfrm>
            <a:custGeom>
              <a:avLst/>
              <a:gdLst/>
              <a:ahLst/>
              <a:cxnLst/>
              <a:rect r="r" b="b" t="t" l="l"/>
              <a:pathLst>
                <a:path h="342900" w="209550">
                  <a:moveTo>
                    <a:pt x="0" y="0"/>
                  </a:moveTo>
                  <a:lnTo>
                    <a:pt x="209550" y="0"/>
                  </a:lnTo>
                  <a:lnTo>
                    <a:pt x="209550" y="342900"/>
                  </a:lnTo>
                  <a:lnTo>
                    <a:pt x="0" y="342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2777" r="0" b="-2777"/>
              </a:stretch>
            </a:blip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6356515" y="6003638"/>
            <a:ext cx="175213" cy="286713"/>
            <a:chOff x="0" y="0"/>
            <a:chExt cx="209550" cy="342900"/>
          </a:xfrm>
        </p:grpSpPr>
        <p:sp>
          <p:nvSpPr>
            <p:cNvPr name="Freeform 25" id="25" descr="image.png"/>
            <p:cNvSpPr/>
            <p:nvPr/>
          </p:nvSpPr>
          <p:spPr>
            <a:xfrm flipH="false" flipV="false" rot="0">
              <a:off x="0" y="0"/>
              <a:ext cx="209550" cy="342900"/>
            </a:xfrm>
            <a:custGeom>
              <a:avLst/>
              <a:gdLst/>
              <a:ahLst/>
              <a:cxnLst/>
              <a:rect r="r" b="b" t="t" l="l"/>
              <a:pathLst>
                <a:path h="342900" w="209550">
                  <a:moveTo>
                    <a:pt x="0" y="0"/>
                  </a:moveTo>
                  <a:lnTo>
                    <a:pt x="209550" y="0"/>
                  </a:lnTo>
                  <a:lnTo>
                    <a:pt x="209550" y="342900"/>
                  </a:lnTo>
                  <a:lnTo>
                    <a:pt x="0" y="342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2777" r="0" b="-2777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1756271" y="6003638"/>
            <a:ext cx="175213" cy="286713"/>
            <a:chOff x="0" y="0"/>
            <a:chExt cx="209550" cy="342900"/>
          </a:xfrm>
        </p:grpSpPr>
        <p:sp>
          <p:nvSpPr>
            <p:cNvPr name="Freeform 27" id="27" descr="image.png"/>
            <p:cNvSpPr/>
            <p:nvPr/>
          </p:nvSpPr>
          <p:spPr>
            <a:xfrm flipH="false" flipV="false" rot="0">
              <a:off x="0" y="0"/>
              <a:ext cx="209550" cy="342900"/>
            </a:xfrm>
            <a:custGeom>
              <a:avLst/>
              <a:gdLst/>
              <a:ahLst/>
              <a:cxnLst/>
              <a:rect r="r" b="b" t="t" l="l"/>
              <a:pathLst>
                <a:path h="342900" w="209550">
                  <a:moveTo>
                    <a:pt x="0" y="0"/>
                  </a:moveTo>
                  <a:lnTo>
                    <a:pt x="209550" y="0"/>
                  </a:lnTo>
                  <a:lnTo>
                    <a:pt x="209550" y="342900"/>
                  </a:lnTo>
                  <a:lnTo>
                    <a:pt x="0" y="342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2777" r="0" b="-2777"/>
              </a:stretch>
            </a:blipFill>
          </p:spPr>
        </p:sp>
      </p:grpSp>
      <p:sp>
        <p:nvSpPr>
          <p:cNvPr name="TextBox 28" id="28"/>
          <p:cNvSpPr txBox="true"/>
          <p:nvPr/>
        </p:nvSpPr>
        <p:spPr>
          <a:xfrm rot="0">
            <a:off x="1339043" y="3931374"/>
            <a:ext cx="4810402" cy="4077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9"/>
              </a:lnSpc>
            </a:pPr>
            <a:r>
              <a:rPr lang="en-US" sz="2257" b="true">
                <a:solidFill>
                  <a:srgbClr val="0F172A"/>
                </a:solidFill>
                <a:latin typeface="Inter Bold"/>
                <a:ea typeface="Inter Bold"/>
                <a:cs typeface="Inter Bold"/>
                <a:sym typeface="Inter Bold"/>
              </a:rPr>
              <a:t>Demand Forecasting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6738799" y="3931374"/>
            <a:ext cx="4810402" cy="4077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9"/>
              </a:lnSpc>
            </a:pPr>
            <a:r>
              <a:rPr lang="en-US" sz="2257" b="true">
                <a:solidFill>
                  <a:srgbClr val="0F172A"/>
                </a:solidFill>
                <a:latin typeface="Inter Bold"/>
                <a:ea typeface="Inter Bold"/>
                <a:cs typeface="Inter Bold"/>
                <a:sym typeface="Inter Bold"/>
              </a:rPr>
              <a:t>Procurement Analytics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2138555" y="3764125"/>
            <a:ext cx="4810402" cy="6891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9"/>
              </a:lnSpc>
            </a:pPr>
            <a:r>
              <a:rPr lang="en-US" sz="2257" b="true">
                <a:solidFill>
                  <a:srgbClr val="0F172A"/>
                </a:solidFill>
                <a:latin typeface="Inter Bold"/>
                <a:ea typeface="Inter Bold"/>
                <a:cs typeface="Inter Bold"/>
                <a:sym typeface="Inter Bold"/>
              </a:rPr>
              <a:t>Procurement Anomaly </a:t>
            </a:r>
          </a:p>
          <a:p>
            <a:pPr algn="ctr">
              <a:lnSpc>
                <a:spcPts val="2709"/>
              </a:lnSpc>
            </a:pPr>
            <a:r>
              <a:rPr lang="en-US" sz="2257" b="true">
                <a:solidFill>
                  <a:srgbClr val="0F172A"/>
                </a:solidFill>
                <a:latin typeface="Inter Bold"/>
                <a:ea typeface="Inter Bold"/>
                <a:cs typeface="Inter Bold"/>
                <a:sym typeface="Inter Bold"/>
              </a:rPr>
              <a:t>Detection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339043" y="5771114"/>
            <a:ext cx="4810402" cy="6891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9"/>
              </a:lnSpc>
            </a:pPr>
            <a:r>
              <a:rPr lang="en-US" sz="2257" b="true">
                <a:solidFill>
                  <a:srgbClr val="0F172A"/>
                </a:solidFill>
                <a:latin typeface="Inter Bold"/>
                <a:ea typeface="Inter Bold"/>
                <a:cs typeface="Inter Bold"/>
                <a:sym typeface="Inter Bold"/>
              </a:rPr>
              <a:t>Supply-Chain Risk / </a:t>
            </a:r>
          </a:p>
          <a:p>
            <a:pPr algn="ctr">
              <a:lnSpc>
                <a:spcPts val="2709"/>
              </a:lnSpc>
            </a:pPr>
            <a:r>
              <a:rPr lang="en-US" sz="2257" b="true">
                <a:solidFill>
                  <a:srgbClr val="0F172A"/>
                </a:solidFill>
                <a:latin typeface="Inter Bold"/>
                <a:ea typeface="Inter Bold"/>
                <a:cs typeface="Inter Bold"/>
                <a:sym typeface="Inter Bold"/>
              </a:rPr>
              <a:t>Early Warning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6738799" y="5771114"/>
            <a:ext cx="4810402" cy="6891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9"/>
              </a:lnSpc>
            </a:pPr>
            <a:r>
              <a:rPr lang="en-US" sz="2257" b="true">
                <a:solidFill>
                  <a:srgbClr val="0F172A"/>
                </a:solidFill>
                <a:latin typeface="Inter Bold"/>
                <a:ea typeface="Inter Bold"/>
                <a:cs typeface="Inter Bold"/>
                <a:sym typeface="Inter Bold"/>
              </a:rPr>
              <a:t>Customer Purchase </a:t>
            </a:r>
          </a:p>
          <a:p>
            <a:pPr algn="ctr">
              <a:lnSpc>
                <a:spcPts val="2709"/>
              </a:lnSpc>
            </a:pPr>
            <a:r>
              <a:rPr lang="en-US" sz="2257" b="true">
                <a:solidFill>
                  <a:srgbClr val="0F172A"/>
                </a:solidFill>
                <a:latin typeface="Inter Bold"/>
                <a:ea typeface="Inter Bold"/>
                <a:cs typeface="Inter Bold"/>
                <a:sym typeface="Inter Bold"/>
              </a:rPr>
              <a:t>Behaviour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2138555" y="5771114"/>
            <a:ext cx="4810402" cy="6891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9"/>
              </a:lnSpc>
            </a:pPr>
            <a:r>
              <a:rPr lang="en-US" sz="2257" b="true">
                <a:solidFill>
                  <a:srgbClr val="0F172A"/>
                </a:solidFill>
                <a:latin typeface="Inter Bold"/>
                <a:ea typeface="Inter Bold"/>
                <a:cs typeface="Inter Bold"/>
                <a:sym typeface="Inter Bold"/>
              </a:rPr>
              <a:t>Next-Purchase /</a:t>
            </a:r>
          </a:p>
          <a:p>
            <a:pPr algn="ctr">
              <a:lnSpc>
                <a:spcPts val="2709"/>
              </a:lnSpc>
            </a:pPr>
            <a:r>
              <a:rPr lang="en-US" sz="2257" b="true">
                <a:solidFill>
                  <a:srgbClr val="0F172A"/>
                </a:solidFill>
                <a:latin typeface="Inter Bold"/>
                <a:ea typeface="Inter Bold"/>
                <a:cs typeface="Inter Bold"/>
                <a:sym typeface="Inter Bold"/>
              </a:rPr>
              <a:t> Churn Prediction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solidFill>
          <a:srgbClr val="FEDE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8025110" y="7427069"/>
            <a:ext cx="262890" cy="1831231"/>
            <a:chOff x="0" y="0"/>
            <a:chExt cx="69239" cy="48229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9239" cy="482299"/>
            </a:xfrm>
            <a:custGeom>
              <a:avLst/>
              <a:gdLst/>
              <a:ahLst/>
              <a:cxnLst/>
              <a:rect r="r" b="b" t="t" l="l"/>
              <a:pathLst>
                <a:path h="482299" w="69239">
                  <a:moveTo>
                    <a:pt x="0" y="0"/>
                  </a:moveTo>
                  <a:lnTo>
                    <a:pt x="69239" y="0"/>
                  </a:lnTo>
                  <a:lnTo>
                    <a:pt x="69239" y="482299"/>
                  </a:lnTo>
                  <a:lnTo>
                    <a:pt x="0" y="482299"/>
                  </a:lnTo>
                  <a:close/>
                </a:path>
              </a:pathLst>
            </a:custGeom>
            <a:solidFill>
              <a:srgbClr val="70020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69239" cy="4918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18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520343" y="1352550"/>
            <a:ext cx="7852662" cy="11984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508"/>
              </a:lnSpc>
            </a:pPr>
            <a:r>
              <a:rPr lang="en-US" sz="10009" spc="-490">
                <a:solidFill>
                  <a:srgbClr val="70020F"/>
                </a:solidFill>
                <a:latin typeface="Anton"/>
                <a:ea typeface="Anton"/>
                <a:cs typeface="Anton"/>
                <a:sym typeface="Anton"/>
              </a:rPr>
              <a:t>R</a:t>
            </a:r>
            <a:r>
              <a:rPr lang="en-US" sz="10009" spc="-490">
                <a:solidFill>
                  <a:srgbClr val="70020F"/>
                </a:solidFill>
                <a:latin typeface="Anton"/>
                <a:ea typeface="Anton"/>
                <a:cs typeface="Anton"/>
                <a:sym typeface="Anton"/>
              </a:rPr>
              <a:t>ESEARCH GAP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520343" y="2999840"/>
            <a:ext cx="5110594" cy="5196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58"/>
              </a:lnSpc>
            </a:pPr>
            <a:r>
              <a:rPr lang="en-US" sz="4421" spc="-216">
                <a:solidFill>
                  <a:srgbClr val="0F172A"/>
                </a:solidFill>
                <a:latin typeface="Anton"/>
                <a:ea typeface="Anton"/>
                <a:cs typeface="Anton"/>
                <a:sym typeface="Anton"/>
              </a:rPr>
              <a:t>EXISTING RESEARCH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310793" y="3805223"/>
            <a:ext cx="742788" cy="742788"/>
            <a:chOff x="0" y="0"/>
            <a:chExt cx="148699" cy="14869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48699" cy="148699"/>
            </a:xfrm>
            <a:custGeom>
              <a:avLst/>
              <a:gdLst/>
              <a:ahLst/>
              <a:cxnLst/>
              <a:rect r="r" b="b" t="t" l="l"/>
              <a:pathLst>
                <a:path h="148699" w="148699">
                  <a:moveTo>
                    <a:pt x="0" y="0"/>
                  </a:moveTo>
                  <a:lnTo>
                    <a:pt x="148699" y="0"/>
                  </a:lnTo>
                  <a:lnTo>
                    <a:pt x="148699" y="148699"/>
                  </a:lnTo>
                  <a:lnTo>
                    <a:pt x="0" y="148699"/>
                  </a:lnTo>
                  <a:close/>
                </a:path>
              </a:pathLst>
            </a:custGeom>
            <a:solidFill>
              <a:srgbClr val="FEDEE1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0"/>
              <a:ext cx="148699" cy="14869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99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1465257" y="3944810"/>
            <a:ext cx="433860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08"/>
              </a:lnSpc>
            </a:pPr>
            <a:r>
              <a:rPr lang="en-US" sz="3090" spc="-30">
                <a:solidFill>
                  <a:srgbClr val="70020F"/>
                </a:solidFill>
                <a:latin typeface="Anton"/>
                <a:ea typeface="Anton"/>
                <a:cs typeface="Anton"/>
                <a:sym typeface="Anton"/>
              </a:rPr>
              <a:t>1.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310793" y="4408424"/>
            <a:ext cx="742788" cy="742788"/>
            <a:chOff x="0" y="0"/>
            <a:chExt cx="148699" cy="14869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48699" cy="148699"/>
            </a:xfrm>
            <a:custGeom>
              <a:avLst/>
              <a:gdLst/>
              <a:ahLst/>
              <a:cxnLst/>
              <a:rect r="r" b="b" t="t" l="l"/>
              <a:pathLst>
                <a:path h="148699" w="148699">
                  <a:moveTo>
                    <a:pt x="0" y="0"/>
                  </a:moveTo>
                  <a:lnTo>
                    <a:pt x="148699" y="0"/>
                  </a:lnTo>
                  <a:lnTo>
                    <a:pt x="148699" y="148699"/>
                  </a:lnTo>
                  <a:lnTo>
                    <a:pt x="0" y="148699"/>
                  </a:lnTo>
                  <a:close/>
                </a:path>
              </a:pathLst>
            </a:custGeom>
            <a:solidFill>
              <a:srgbClr val="FEDEE1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0"/>
              <a:ext cx="148699" cy="14869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99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1465257" y="4548011"/>
            <a:ext cx="433860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08"/>
              </a:lnSpc>
            </a:pPr>
            <a:r>
              <a:rPr lang="en-US" sz="3090" spc="-30">
                <a:solidFill>
                  <a:srgbClr val="70020F"/>
                </a:solidFill>
                <a:latin typeface="Anton"/>
                <a:ea typeface="Anton"/>
                <a:cs typeface="Anton"/>
                <a:sym typeface="Anton"/>
              </a:rPr>
              <a:t>2.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310793" y="5011669"/>
            <a:ext cx="742788" cy="742788"/>
            <a:chOff x="0" y="0"/>
            <a:chExt cx="148699" cy="148699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48699" cy="148699"/>
            </a:xfrm>
            <a:custGeom>
              <a:avLst/>
              <a:gdLst/>
              <a:ahLst/>
              <a:cxnLst/>
              <a:rect r="r" b="b" t="t" l="l"/>
              <a:pathLst>
                <a:path h="148699" w="148699">
                  <a:moveTo>
                    <a:pt x="0" y="0"/>
                  </a:moveTo>
                  <a:lnTo>
                    <a:pt x="148699" y="0"/>
                  </a:lnTo>
                  <a:lnTo>
                    <a:pt x="148699" y="148699"/>
                  </a:lnTo>
                  <a:lnTo>
                    <a:pt x="0" y="148699"/>
                  </a:lnTo>
                  <a:close/>
                </a:path>
              </a:pathLst>
            </a:custGeom>
            <a:solidFill>
              <a:srgbClr val="FEDEE1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0"/>
              <a:ext cx="148699" cy="14869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99"/>
                </a:lnSpc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1465257" y="5151256"/>
            <a:ext cx="433860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08"/>
              </a:lnSpc>
            </a:pPr>
            <a:r>
              <a:rPr lang="en-US" sz="3090" spc="-30">
                <a:solidFill>
                  <a:srgbClr val="70020F"/>
                </a:solidFill>
                <a:latin typeface="Anton"/>
                <a:ea typeface="Anton"/>
                <a:cs typeface="Anton"/>
                <a:sym typeface="Anton"/>
              </a:rPr>
              <a:t>3.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310793" y="5614870"/>
            <a:ext cx="742788" cy="742788"/>
            <a:chOff x="0" y="0"/>
            <a:chExt cx="148699" cy="148699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48699" cy="148699"/>
            </a:xfrm>
            <a:custGeom>
              <a:avLst/>
              <a:gdLst/>
              <a:ahLst/>
              <a:cxnLst/>
              <a:rect r="r" b="b" t="t" l="l"/>
              <a:pathLst>
                <a:path h="148699" w="148699">
                  <a:moveTo>
                    <a:pt x="0" y="0"/>
                  </a:moveTo>
                  <a:lnTo>
                    <a:pt x="148699" y="0"/>
                  </a:lnTo>
                  <a:lnTo>
                    <a:pt x="148699" y="148699"/>
                  </a:lnTo>
                  <a:lnTo>
                    <a:pt x="0" y="148699"/>
                  </a:lnTo>
                  <a:close/>
                </a:path>
              </a:pathLst>
            </a:custGeom>
            <a:solidFill>
              <a:srgbClr val="FEDEE1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0"/>
              <a:ext cx="148699" cy="14869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99"/>
                </a:lnSpc>
              </a:pP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1465257" y="5754457"/>
            <a:ext cx="433860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08"/>
              </a:lnSpc>
            </a:pPr>
            <a:r>
              <a:rPr lang="en-US" sz="3090" spc="-30">
                <a:solidFill>
                  <a:srgbClr val="70020F"/>
                </a:solidFill>
                <a:latin typeface="Anton"/>
                <a:ea typeface="Anton"/>
                <a:cs typeface="Anton"/>
                <a:sym typeface="Anton"/>
              </a:rPr>
              <a:t>4.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1310793" y="6218115"/>
            <a:ext cx="742788" cy="742788"/>
            <a:chOff x="0" y="0"/>
            <a:chExt cx="148699" cy="148699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48699" cy="148699"/>
            </a:xfrm>
            <a:custGeom>
              <a:avLst/>
              <a:gdLst/>
              <a:ahLst/>
              <a:cxnLst/>
              <a:rect r="r" b="b" t="t" l="l"/>
              <a:pathLst>
                <a:path h="148699" w="148699">
                  <a:moveTo>
                    <a:pt x="0" y="0"/>
                  </a:moveTo>
                  <a:lnTo>
                    <a:pt x="148699" y="0"/>
                  </a:lnTo>
                  <a:lnTo>
                    <a:pt x="148699" y="148699"/>
                  </a:lnTo>
                  <a:lnTo>
                    <a:pt x="0" y="148699"/>
                  </a:lnTo>
                  <a:close/>
                </a:path>
              </a:pathLst>
            </a:custGeom>
            <a:solidFill>
              <a:srgbClr val="FEDEE1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0"/>
              <a:ext cx="148699" cy="14869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99"/>
                </a:lnSpc>
              </a:pP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1465257" y="6357702"/>
            <a:ext cx="433860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08"/>
              </a:lnSpc>
            </a:pPr>
            <a:r>
              <a:rPr lang="en-US" sz="3090" spc="-30">
                <a:solidFill>
                  <a:srgbClr val="70020F"/>
                </a:solidFill>
                <a:latin typeface="Anton"/>
                <a:ea typeface="Anton"/>
                <a:cs typeface="Anton"/>
                <a:sym typeface="Anton"/>
              </a:rPr>
              <a:t>5.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916110" y="4005251"/>
            <a:ext cx="2921279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11"/>
              </a:lnSpc>
            </a:pPr>
            <a:r>
              <a:rPr lang="en-US" sz="2509" spc="-25">
                <a:solidFill>
                  <a:srgbClr val="0F172A"/>
                </a:solidFill>
                <a:latin typeface="Anton"/>
                <a:ea typeface="Anton"/>
                <a:cs typeface="Anton"/>
                <a:sym typeface="Anton"/>
              </a:rPr>
              <a:t>D</a:t>
            </a:r>
            <a:r>
              <a:rPr lang="en-US" sz="2509" spc="-25">
                <a:solidFill>
                  <a:srgbClr val="0F172A"/>
                </a:solidFill>
                <a:latin typeface="Anton"/>
                <a:ea typeface="Anton"/>
                <a:cs typeface="Anton"/>
                <a:sym typeface="Anton"/>
              </a:rPr>
              <a:t>EMAND FORECASTING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916110" y="4608453"/>
            <a:ext cx="3393093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11"/>
              </a:lnSpc>
            </a:pPr>
            <a:r>
              <a:rPr lang="en-US" sz="2509" spc="-25">
                <a:solidFill>
                  <a:srgbClr val="0F172A"/>
                </a:solidFill>
                <a:latin typeface="Anton"/>
                <a:ea typeface="Anton"/>
                <a:cs typeface="Anton"/>
                <a:sym typeface="Anton"/>
              </a:rPr>
              <a:t>PROCUR</a:t>
            </a:r>
            <a:r>
              <a:rPr lang="en-US" sz="2509" spc="-25">
                <a:solidFill>
                  <a:srgbClr val="0F172A"/>
                </a:solidFill>
                <a:latin typeface="Anton"/>
                <a:ea typeface="Anton"/>
                <a:cs typeface="Anton"/>
                <a:sym typeface="Anton"/>
              </a:rPr>
              <a:t>EMENT ANALYTICS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916110" y="5211697"/>
            <a:ext cx="4166662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11"/>
              </a:lnSpc>
            </a:pPr>
            <a:r>
              <a:rPr lang="en-US" sz="2509" spc="-25">
                <a:solidFill>
                  <a:srgbClr val="0F172A"/>
                </a:solidFill>
                <a:latin typeface="Anton"/>
                <a:ea typeface="Anton"/>
                <a:cs typeface="Anton"/>
                <a:sym typeface="Anton"/>
              </a:rPr>
              <a:t>PROCUR</a:t>
            </a:r>
            <a:r>
              <a:rPr lang="en-US" sz="2509" spc="-25">
                <a:solidFill>
                  <a:srgbClr val="0F172A"/>
                </a:solidFill>
                <a:latin typeface="Anton"/>
                <a:ea typeface="Anton"/>
                <a:cs typeface="Anton"/>
                <a:sym typeface="Anton"/>
              </a:rPr>
              <a:t>EMENT ANOMALY DETECTION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916110" y="5814920"/>
            <a:ext cx="2921279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11"/>
              </a:lnSpc>
            </a:pPr>
            <a:r>
              <a:rPr lang="en-US" sz="2509" spc="-25">
                <a:solidFill>
                  <a:srgbClr val="0F172A"/>
                </a:solidFill>
                <a:latin typeface="Anton"/>
                <a:ea typeface="Anton"/>
                <a:cs typeface="Anton"/>
                <a:sym typeface="Anton"/>
              </a:rPr>
              <a:t>SUPPLY-CH</a:t>
            </a:r>
            <a:r>
              <a:rPr lang="en-US" sz="2509" spc="-25">
                <a:solidFill>
                  <a:srgbClr val="0F172A"/>
                </a:solidFill>
                <a:latin typeface="Anton"/>
                <a:ea typeface="Anton"/>
                <a:cs typeface="Anton"/>
                <a:sym typeface="Anton"/>
              </a:rPr>
              <a:t>AIN RISK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916110" y="6418165"/>
            <a:ext cx="2921279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11"/>
              </a:lnSpc>
            </a:pPr>
            <a:r>
              <a:rPr lang="en-US" sz="2509" spc="-25">
                <a:solidFill>
                  <a:srgbClr val="0F172A"/>
                </a:solidFill>
                <a:latin typeface="Anton"/>
                <a:ea typeface="Anton"/>
                <a:cs typeface="Anton"/>
                <a:sym typeface="Anton"/>
              </a:rPr>
              <a:t>CUSTO</a:t>
            </a:r>
            <a:r>
              <a:rPr lang="en-US" sz="2509" spc="-25">
                <a:solidFill>
                  <a:srgbClr val="0F172A"/>
                </a:solidFill>
                <a:latin typeface="Anton"/>
                <a:ea typeface="Anton"/>
                <a:cs typeface="Anton"/>
                <a:sym typeface="Anton"/>
              </a:rPr>
              <a:t>MER BEHAVIOUR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520343" y="7399053"/>
            <a:ext cx="5110594" cy="5196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58"/>
              </a:lnSpc>
            </a:pPr>
            <a:r>
              <a:rPr lang="en-US" sz="4421" spc="-216">
                <a:solidFill>
                  <a:srgbClr val="0F172A"/>
                </a:solidFill>
                <a:latin typeface="Anton"/>
                <a:ea typeface="Anton"/>
                <a:cs typeface="Anton"/>
                <a:sym typeface="Anton"/>
              </a:rPr>
              <a:t>OBSERVED GAP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520343" y="8337786"/>
            <a:ext cx="10113109" cy="7275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18"/>
              </a:lnSpc>
            </a:pPr>
            <a:r>
              <a:rPr lang="en-US" sz="2431" spc="-24">
                <a:solidFill>
                  <a:srgbClr val="0F172A"/>
                </a:solidFill>
                <a:latin typeface="Anton"/>
                <a:ea typeface="Anton"/>
                <a:cs typeface="Anton"/>
                <a:sym typeface="Anton"/>
              </a:rPr>
              <a:t>LIMIT</a:t>
            </a:r>
            <a:r>
              <a:rPr lang="en-US" sz="2431" spc="-24">
                <a:solidFill>
                  <a:srgbClr val="0F172A"/>
                </a:solidFill>
                <a:latin typeface="Anton"/>
                <a:ea typeface="Anton"/>
                <a:cs typeface="Anton"/>
                <a:sym typeface="Anton"/>
              </a:rPr>
              <a:t>ED DIRECT FOCUS IN THE REVIEWED LITERATURE ON UNUSUALLY EARLY REORDER DETECTION USING CUSTOMER–PART-SPECIFIC INTER-PURCHASE INTERVAL HISTORIES.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DE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8025110" y="7427069"/>
            <a:ext cx="262890" cy="1831231"/>
            <a:chOff x="0" y="0"/>
            <a:chExt cx="69239" cy="48229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9239" cy="482299"/>
            </a:xfrm>
            <a:custGeom>
              <a:avLst/>
              <a:gdLst/>
              <a:ahLst/>
              <a:cxnLst/>
              <a:rect r="r" b="b" t="t" l="l"/>
              <a:pathLst>
                <a:path h="482299" w="69239">
                  <a:moveTo>
                    <a:pt x="0" y="0"/>
                  </a:moveTo>
                  <a:lnTo>
                    <a:pt x="69239" y="0"/>
                  </a:lnTo>
                  <a:lnTo>
                    <a:pt x="69239" y="482299"/>
                  </a:lnTo>
                  <a:lnTo>
                    <a:pt x="0" y="482299"/>
                  </a:lnTo>
                  <a:close/>
                </a:path>
              </a:pathLst>
            </a:custGeom>
            <a:solidFill>
              <a:srgbClr val="70020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69239" cy="4918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18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193306" y="1552805"/>
            <a:ext cx="15901389" cy="8403582"/>
          </a:xfrm>
          <a:custGeom>
            <a:avLst/>
            <a:gdLst/>
            <a:ahLst/>
            <a:cxnLst/>
            <a:rect r="r" b="b" t="t" l="l"/>
            <a:pathLst>
              <a:path h="8403582" w="15901389">
                <a:moveTo>
                  <a:pt x="0" y="0"/>
                </a:moveTo>
                <a:lnTo>
                  <a:pt x="15901388" y="0"/>
                </a:lnTo>
                <a:lnTo>
                  <a:pt x="15901388" y="8403582"/>
                </a:lnTo>
                <a:lnTo>
                  <a:pt x="0" y="840358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193306" y="461284"/>
            <a:ext cx="14454516" cy="18512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351"/>
              </a:lnSpc>
            </a:pPr>
            <a:r>
              <a:rPr lang="en-US" sz="6623" spc="-324">
                <a:solidFill>
                  <a:srgbClr val="70020F"/>
                </a:solidFill>
                <a:latin typeface="Anton"/>
                <a:ea typeface="Anton"/>
                <a:cs typeface="Anton"/>
                <a:sym typeface="Anton"/>
              </a:rPr>
              <a:t>C</a:t>
            </a:r>
            <a:r>
              <a:rPr lang="en-US" sz="6623" spc="-324">
                <a:solidFill>
                  <a:srgbClr val="70020F"/>
                </a:solidFill>
                <a:latin typeface="Anton"/>
                <a:ea typeface="Anton"/>
                <a:cs typeface="Anton"/>
                <a:sym typeface="Anton"/>
              </a:rPr>
              <a:t>OMPLETE SYSTEM ARCHITECTURE</a:t>
            </a:r>
          </a:p>
          <a:p>
            <a:pPr algn="l">
              <a:lnSpc>
                <a:spcPts val="7182"/>
              </a:lnSpc>
            </a:pP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>
      <p:bgPr>
        <a:solidFill>
          <a:srgbClr val="7002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91903" y="3548248"/>
            <a:ext cx="742788" cy="742788"/>
            <a:chOff x="0" y="0"/>
            <a:chExt cx="148699" cy="14869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8699" cy="148699"/>
            </a:xfrm>
            <a:custGeom>
              <a:avLst/>
              <a:gdLst/>
              <a:ahLst/>
              <a:cxnLst/>
              <a:rect r="r" b="b" t="t" l="l"/>
              <a:pathLst>
                <a:path h="148699" w="148699">
                  <a:moveTo>
                    <a:pt x="0" y="0"/>
                  </a:moveTo>
                  <a:lnTo>
                    <a:pt x="148699" y="0"/>
                  </a:lnTo>
                  <a:lnTo>
                    <a:pt x="148699" y="148699"/>
                  </a:lnTo>
                  <a:lnTo>
                    <a:pt x="0" y="148699"/>
                  </a:lnTo>
                  <a:close/>
                </a:path>
              </a:pathLst>
            </a:custGeom>
            <a:solidFill>
              <a:srgbClr val="FEDEE1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0"/>
              <a:ext cx="148699" cy="14869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9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891903" y="816104"/>
            <a:ext cx="8258809" cy="37223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1000"/>
              </a:lnSpc>
            </a:pPr>
            <a:r>
              <a:rPr lang="en-US" sz="10091" spc="-494">
                <a:solidFill>
                  <a:srgbClr val="FEDEE1"/>
                </a:solidFill>
                <a:latin typeface="Anton"/>
                <a:ea typeface="Anton"/>
                <a:cs typeface="Anton"/>
                <a:sym typeface="Anton"/>
              </a:rPr>
              <a:t>ALGORITHM USED</a:t>
            </a:r>
          </a:p>
          <a:p>
            <a:pPr algn="just">
              <a:lnSpc>
                <a:spcPts val="7161"/>
              </a:lnSpc>
            </a:pPr>
            <a:r>
              <a:rPr lang="en-US" sz="6569" spc="-321">
                <a:solidFill>
                  <a:srgbClr val="FEDEE1"/>
                </a:solidFill>
                <a:latin typeface="Anton"/>
                <a:ea typeface="Anton"/>
                <a:cs typeface="Anton"/>
                <a:sym typeface="Anton"/>
              </a:rPr>
              <a:t>ISOLATION FOREST</a:t>
            </a:r>
          </a:p>
          <a:p>
            <a:pPr algn="just">
              <a:lnSpc>
                <a:spcPts val="11000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891903" y="4516600"/>
            <a:ext cx="5186538" cy="13687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08"/>
              </a:lnSpc>
            </a:pPr>
            <a:r>
              <a:rPr lang="en-US" sz="3090" spc="-30">
                <a:solidFill>
                  <a:srgbClr val="FEDEE1"/>
                </a:solidFill>
                <a:latin typeface="Anton"/>
                <a:ea typeface="Anton"/>
                <a:cs typeface="Anton"/>
                <a:sym typeface="Anton"/>
              </a:rPr>
              <a:t>UNSUPERVISED: DOES NOT REQUIRE</a:t>
            </a:r>
            <a:r>
              <a:rPr lang="en-US" sz="3090" spc="-30">
                <a:solidFill>
                  <a:srgbClr val="FEDEE1"/>
                </a:solidFill>
                <a:latin typeface="Anton"/>
                <a:ea typeface="Anton"/>
                <a:cs typeface="Anton"/>
                <a:sym typeface="Anton"/>
              </a:rPr>
              <a:t> A LARGE SET OF LABELLED ANOMALY EXAMPLES.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248921" y="4516600"/>
            <a:ext cx="4362025" cy="18249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08"/>
              </a:lnSpc>
            </a:pPr>
            <a:r>
              <a:rPr lang="en-US" sz="3090" spc="-30">
                <a:solidFill>
                  <a:srgbClr val="FEDEE1"/>
                </a:solidFill>
                <a:latin typeface="Anton"/>
                <a:ea typeface="Anton"/>
                <a:cs typeface="Anton"/>
                <a:sym typeface="Anton"/>
              </a:rPr>
              <a:t>ANOMALY DETECTION: SUITABLE FOR IDENTIFYING UNUSUAL REORDER EVENTS FROM TEMPORAL FEATURES</a:t>
            </a:r>
            <a:r>
              <a:rPr lang="en-US" sz="3090" spc="-30">
                <a:solidFill>
                  <a:srgbClr val="FEDEE1"/>
                </a:solidFill>
                <a:latin typeface="Anton"/>
                <a:ea typeface="Anton"/>
                <a:cs typeface="Anton"/>
                <a:sym typeface="Anton"/>
              </a:rPr>
              <a:t>.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6248921" y="3548248"/>
            <a:ext cx="742788" cy="742788"/>
            <a:chOff x="0" y="0"/>
            <a:chExt cx="148699" cy="14869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48699" cy="148699"/>
            </a:xfrm>
            <a:custGeom>
              <a:avLst/>
              <a:gdLst/>
              <a:ahLst/>
              <a:cxnLst/>
              <a:rect r="r" b="b" t="t" l="l"/>
              <a:pathLst>
                <a:path h="148699" w="148699">
                  <a:moveTo>
                    <a:pt x="0" y="0"/>
                  </a:moveTo>
                  <a:lnTo>
                    <a:pt x="148699" y="0"/>
                  </a:lnTo>
                  <a:lnTo>
                    <a:pt x="148699" y="148699"/>
                  </a:lnTo>
                  <a:lnTo>
                    <a:pt x="0" y="148699"/>
                  </a:lnTo>
                  <a:close/>
                </a:path>
              </a:pathLst>
            </a:custGeom>
            <a:solidFill>
              <a:srgbClr val="FEDEE1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0"/>
              <a:ext cx="148699" cy="14869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99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046367" y="3687835"/>
            <a:ext cx="433860" cy="4636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08"/>
              </a:lnSpc>
            </a:pPr>
            <a:r>
              <a:rPr lang="en-US" sz="3090" spc="-30">
                <a:solidFill>
                  <a:srgbClr val="70020F"/>
                </a:solidFill>
                <a:latin typeface="Anton"/>
                <a:ea typeface="Anton"/>
                <a:cs typeface="Anton"/>
                <a:sym typeface="Anton"/>
              </a:rPr>
              <a:t>1.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403385" y="3687835"/>
            <a:ext cx="433860" cy="4636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08"/>
              </a:lnSpc>
            </a:pPr>
            <a:r>
              <a:rPr lang="en-US" sz="3090" spc="-30">
                <a:solidFill>
                  <a:srgbClr val="70020F"/>
                </a:solidFill>
                <a:latin typeface="Anton"/>
                <a:ea typeface="Anton"/>
                <a:cs typeface="Anton"/>
                <a:sym typeface="Anton"/>
              </a:rPr>
              <a:t>2.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891903" y="6437787"/>
            <a:ext cx="742788" cy="742788"/>
            <a:chOff x="0" y="0"/>
            <a:chExt cx="148699" cy="148699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48699" cy="148699"/>
            </a:xfrm>
            <a:custGeom>
              <a:avLst/>
              <a:gdLst/>
              <a:ahLst/>
              <a:cxnLst/>
              <a:rect r="r" b="b" t="t" l="l"/>
              <a:pathLst>
                <a:path h="148699" w="148699">
                  <a:moveTo>
                    <a:pt x="0" y="0"/>
                  </a:moveTo>
                  <a:lnTo>
                    <a:pt x="148699" y="0"/>
                  </a:lnTo>
                  <a:lnTo>
                    <a:pt x="148699" y="148699"/>
                  </a:lnTo>
                  <a:lnTo>
                    <a:pt x="0" y="148699"/>
                  </a:lnTo>
                  <a:close/>
                </a:path>
              </a:pathLst>
            </a:custGeom>
            <a:solidFill>
              <a:srgbClr val="FEDEE1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0"/>
              <a:ext cx="148699" cy="14869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99"/>
                </a:lnSpc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891903" y="7406138"/>
            <a:ext cx="5186538" cy="18249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08"/>
              </a:lnSpc>
            </a:pPr>
            <a:r>
              <a:rPr lang="en-US" sz="3090" spc="-30">
                <a:solidFill>
                  <a:srgbClr val="FEDEE1"/>
                </a:solidFill>
                <a:latin typeface="Anton"/>
                <a:ea typeface="Anton"/>
                <a:cs typeface="Anton"/>
                <a:sym typeface="Anton"/>
              </a:rPr>
              <a:t>ANOMALY SCORING: PROVIDES ANOMALY SCORES</a:t>
            </a:r>
            <a:r>
              <a:rPr lang="en-US" sz="3090" spc="-30">
                <a:solidFill>
                  <a:srgbClr val="FEDEE1"/>
                </a:solidFill>
                <a:latin typeface="Anton"/>
                <a:ea typeface="Anton"/>
                <a:cs typeface="Anton"/>
                <a:sym typeface="Anton"/>
              </a:rPr>
              <a:t> THAT CAN BE USED TO RANK POTENTIALLY EARLY REORDER EVENTS.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6248921" y="7406138"/>
            <a:ext cx="5803583" cy="18249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08"/>
              </a:lnSpc>
            </a:pPr>
            <a:r>
              <a:rPr lang="en-US" sz="3090" spc="-30">
                <a:solidFill>
                  <a:srgbClr val="FEDEE1"/>
                </a:solidFill>
                <a:latin typeface="Anton"/>
                <a:ea typeface="Anton"/>
                <a:cs typeface="Anton"/>
                <a:sym typeface="Anton"/>
              </a:rPr>
              <a:t>SUITABLE FOR ENGINEERED FEATURES: CAN OPERATE ON TEMPORAL FEATURES SUCH AS IPI, MEDIAN, MAD, AND OTHER DERIVED FEATURES</a:t>
            </a:r>
            <a:r>
              <a:rPr lang="en-US" sz="3090" spc="-30">
                <a:solidFill>
                  <a:srgbClr val="FEDEE1"/>
                </a:solidFill>
                <a:latin typeface="Anton"/>
                <a:ea typeface="Anton"/>
                <a:cs typeface="Anton"/>
                <a:sym typeface="Anton"/>
              </a:rPr>
              <a:t>.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6248921" y="6437787"/>
            <a:ext cx="742788" cy="742788"/>
            <a:chOff x="0" y="0"/>
            <a:chExt cx="148699" cy="148699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48699" cy="148699"/>
            </a:xfrm>
            <a:custGeom>
              <a:avLst/>
              <a:gdLst/>
              <a:ahLst/>
              <a:cxnLst/>
              <a:rect r="r" b="b" t="t" l="l"/>
              <a:pathLst>
                <a:path h="148699" w="148699">
                  <a:moveTo>
                    <a:pt x="0" y="0"/>
                  </a:moveTo>
                  <a:lnTo>
                    <a:pt x="148699" y="0"/>
                  </a:lnTo>
                  <a:lnTo>
                    <a:pt x="148699" y="148699"/>
                  </a:lnTo>
                  <a:lnTo>
                    <a:pt x="0" y="148699"/>
                  </a:lnTo>
                  <a:close/>
                </a:path>
              </a:pathLst>
            </a:custGeom>
            <a:solidFill>
              <a:srgbClr val="FEDEE1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0"/>
              <a:ext cx="148699" cy="14869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99"/>
                </a:lnSpc>
              </a:pP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1036842" y="6577374"/>
            <a:ext cx="433860" cy="4636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08"/>
              </a:lnSpc>
            </a:pPr>
            <a:r>
              <a:rPr lang="en-US" sz="3090" spc="-30">
                <a:solidFill>
                  <a:srgbClr val="70020F"/>
                </a:solidFill>
                <a:latin typeface="Anton"/>
                <a:ea typeface="Anton"/>
                <a:cs typeface="Anton"/>
                <a:sym typeface="Anton"/>
              </a:rPr>
              <a:t>3.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6403385" y="6577374"/>
            <a:ext cx="433860" cy="4636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08"/>
              </a:lnSpc>
            </a:pPr>
            <a:r>
              <a:rPr lang="en-US" sz="3090" spc="-30">
                <a:solidFill>
                  <a:srgbClr val="70020F"/>
                </a:solidFill>
                <a:latin typeface="Anton"/>
                <a:ea typeface="Anton"/>
                <a:cs typeface="Anton"/>
                <a:sym typeface="Anton"/>
              </a:rPr>
              <a:t>4.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bg>
      <p:bgPr>
        <a:solidFill>
          <a:srgbClr val="FEDE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1618551"/>
            <a:ext cx="9040391" cy="723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00"/>
              </a:lnSpc>
            </a:pPr>
            <a:r>
              <a:rPr lang="en-US" sz="6000" spc="-294">
                <a:solidFill>
                  <a:srgbClr val="70020F"/>
                </a:solidFill>
                <a:latin typeface="Anton"/>
                <a:ea typeface="Anton"/>
                <a:cs typeface="Anton"/>
                <a:sym typeface="Anton"/>
              </a:rPr>
              <a:t>CONCLUSION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028700" y="3701044"/>
            <a:ext cx="742788" cy="742788"/>
            <a:chOff x="0" y="0"/>
            <a:chExt cx="148699" cy="14869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48699" cy="148699"/>
            </a:xfrm>
            <a:custGeom>
              <a:avLst/>
              <a:gdLst/>
              <a:ahLst/>
              <a:cxnLst/>
              <a:rect r="r" b="b" t="t" l="l"/>
              <a:pathLst>
                <a:path h="148699" w="148699">
                  <a:moveTo>
                    <a:pt x="0" y="0"/>
                  </a:moveTo>
                  <a:lnTo>
                    <a:pt x="148699" y="0"/>
                  </a:lnTo>
                  <a:lnTo>
                    <a:pt x="148699" y="148699"/>
                  </a:lnTo>
                  <a:lnTo>
                    <a:pt x="0" y="148699"/>
                  </a:lnTo>
                  <a:close/>
                </a:path>
              </a:pathLst>
            </a:custGeom>
            <a:solidFill>
              <a:srgbClr val="F0F9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0"/>
              <a:ext cx="148699" cy="14869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9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2042114" y="3606668"/>
            <a:ext cx="11868711" cy="9124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08"/>
              </a:lnSpc>
            </a:pPr>
            <a:r>
              <a:rPr lang="en-US" sz="3090" spc="-30">
                <a:solidFill>
                  <a:srgbClr val="0F172A"/>
                </a:solidFill>
                <a:latin typeface="Anton"/>
                <a:ea typeface="Anton"/>
                <a:cs typeface="Anton"/>
                <a:sym typeface="Anton"/>
              </a:rPr>
              <a:t>THE PROJECT FOC</a:t>
            </a:r>
            <a:r>
              <a:rPr lang="en-US" sz="3090" spc="-30">
                <a:solidFill>
                  <a:srgbClr val="0F172A"/>
                </a:solidFill>
                <a:latin typeface="Anton"/>
                <a:ea typeface="Anton"/>
                <a:cs typeface="Anton"/>
                <a:sym typeface="Anton"/>
              </a:rPr>
              <a:t>USES ON POTENTIALLY EARLY REORDER DETECTION IN B2B PROCUREMENT TRANSACTION DATA.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183164" y="3840631"/>
            <a:ext cx="433860" cy="4636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08"/>
              </a:lnSpc>
            </a:pPr>
            <a:r>
              <a:rPr lang="en-US" sz="3090" spc="-30">
                <a:solidFill>
                  <a:srgbClr val="0F172A"/>
                </a:solidFill>
                <a:latin typeface="Anton"/>
                <a:ea typeface="Anton"/>
                <a:cs typeface="Anton"/>
                <a:sym typeface="Anton"/>
              </a:rPr>
              <a:t>1.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028700" y="5031041"/>
            <a:ext cx="742788" cy="742788"/>
            <a:chOff x="0" y="0"/>
            <a:chExt cx="148699" cy="14869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48699" cy="148699"/>
            </a:xfrm>
            <a:custGeom>
              <a:avLst/>
              <a:gdLst/>
              <a:ahLst/>
              <a:cxnLst/>
              <a:rect r="r" b="b" t="t" l="l"/>
              <a:pathLst>
                <a:path h="148699" w="148699">
                  <a:moveTo>
                    <a:pt x="0" y="0"/>
                  </a:moveTo>
                  <a:lnTo>
                    <a:pt x="148699" y="0"/>
                  </a:lnTo>
                  <a:lnTo>
                    <a:pt x="148699" y="148699"/>
                  </a:lnTo>
                  <a:lnTo>
                    <a:pt x="0" y="148699"/>
                  </a:lnTo>
                  <a:close/>
                </a:path>
              </a:pathLst>
            </a:custGeom>
            <a:solidFill>
              <a:srgbClr val="F0F9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0"/>
              <a:ext cx="148699" cy="14869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99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2042114" y="4936664"/>
            <a:ext cx="11868711" cy="9124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08"/>
              </a:lnSpc>
            </a:pPr>
            <a:r>
              <a:rPr lang="en-US" sz="3090" spc="-30">
                <a:solidFill>
                  <a:srgbClr val="0F172A"/>
                </a:solidFill>
                <a:latin typeface="Anton"/>
                <a:ea typeface="Anton"/>
                <a:cs typeface="Anton"/>
                <a:sym typeface="Anton"/>
              </a:rPr>
              <a:t>INTER-PURCHASE INTERVALS PROVIDE THE PRIMARY TEMPORAL REPRESENTATION OF CUSTOMER–PART PURCHASING BEHAVIOUR.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183164" y="5170628"/>
            <a:ext cx="433860" cy="4636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08"/>
              </a:lnSpc>
            </a:pPr>
            <a:r>
              <a:rPr lang="en-US" sz="3090" spc="-30">
                <a:solidFill>
                  <a:srgbClr val="0F172A"/>
                </a:solidFill>
                <a:latin typeface="Anton"/>
                <a:ea typeface="Anton"/>
                <a:cs typeface="Anton"/>
                <a:sym typeface="Anton"/>
              </a:rPr>
              <a:t>2.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1028700" y="6362632"/>
            <a:ext cx="742788" cy="742788"/>
            <a:chOff x="0" y="0"/>
            <a:chExt cx="148699" cy="148699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48699" cy="148699"/>
            </a:xfrm>
            <a:custGeom>
              <a:avLst/>
              <a:gdLst/>
              <a:ahLst/>
              <a:cxnLst/>
              <a:rect r="r" b="b" t="t" l="l"/>
              <a:pathLst>
                <a:path h="148699" w="148699">
                  <a:moveTo>
                    <a:pt x="0" y="0"/>
                  </a:moveTo>
                  <a:lnTo>
                    <a:pt x="148699" y="0"/>
                  </a:lnTo>
                  <a:lnTo>
                    <a:pt x="148699" y="148699"/>
                  </a:lnTo>
                  <a:lnTo>
                    <a:pt x="0" y="148699"/>
                  </a:lnTo>
                  <a:close/>
                </a:path>
              </a:pathLst>
            </a:custGeom>
            <a:solidFill>
              <a:srgbClr val="F0F9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0"/>
              <a:ext cx="148699" cy="14869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99"/>
                </a:lnSpc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2042114" y="6268255"/>
            <a:ext cx="11868711" cy="9124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08"/>
              </a:lnSpc>
            </a:pPr>
            <a:r>
              <a:rPr lang="en-US" sz="3090" spc="-30">
                <a:solidFill>
                  <a:srgbClr val="0F172A"/>
                </a:solidFill>
                <a:latin typeface="Anton"/>
                <a:ea typeface="Anton"/>
                <a:cs typeface="Anton"/>
                <a:sym typeface="Anton"/>
              </a:rPr>
              <a:t>ISOLATION FOR</a:t>
            </a:r>
            <a:r>
              <a:rPr lang="en-US" sz="3090" spc="-30">
                <a:solidFill>
                  <a:srgbClr val="0F172A"/>
                </a:solidFill>
                <a:latin typeface="Anton"/>
                <a:ea typeface="Anton"/>
                <a:cs typeface="Anton"/>
                <a:sym typeface="Anton"/>
              </a:rPr>
              <a:t>EST IS SELECTED AS THE PRIMARY UNSUPERVISED ML ALGORITHM USING ENGINEERED TEMPORAL FEATURES.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183164" y="6502219"/>
            <a:ext cx="433860" cy="4636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08"/>
              </a:lnSpc>
            </a:pPr>
            <a:r>
              <a:rPr lang="en-US" sz="3090" spc="-30">
                <a:solidFill>
                  <a:srgbClr val="0F172A"/>
                </a:solidFill>
                <a:latin typeface="Anton"/>
                <a:ea typeface="Anton"/>
                <a:cs typeface="Anton"/>
                <a:sym typeface="Anton"/>
              </a:rPr>
              <a:t>3.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1028700" y="7692628"/>
            <a:ext cx="742788" cy="742788"/>
            <a:chOff x="0" y="0"/>
            <a:chExt cx="148699" cy="148699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48699" cy="148699"/>
            </a:xfrm>
            <a:custGeom>
              <a:avLst/>
              <a:gdLst/>
              <a:ahLst/>
              <a:cxnLst/>
              <a:rect r="r" b="b" t="t" l="l"/>
              <a:pathLst>
                <a:path h="148699" w="148699">
                  <a:moveTo>
                    <a:pt x="0" y="0"/>
                  </a:moveTo>
                  <a:lnTo>
                    <a:pt x="148699" y="0"/>
                  </a:lnTo>
                  <a:lnTo>
                    <a:pt x="148699" y="148699"/>
                  </a:lnTo>
                  <a:lnTo>
                    <a:pt x="0" y="148699"/>
                  </a:lnTo>
                  <a:close/>
                </a:path>
              </a:pathLst>
            </a:custGeom>
            <a:solidFill>
              <a:srgbClr val="F0F9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0"/>
              <a:ext cx="148699" cy="14869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99"/>
                </a:lnSpc>
              </a:pP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2042114" y="7598251"/>
            <a:ext cx="11868711" cy="9124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08"/>
              </a:lnSpc>
            </a:pPr>
            <a:r>
              <a:rPr lang="en-US" sz="3090" spc="-30">
                <a:solidFill>
                  <a:srgbClr val="0F172A"/>
                </a:solidFill>
                <a:latin typeface="Anton"/>
                <a:ea typeface="Anton"/>
                <a:cs typeface="Anton"/>
                <a:sym typeface="Anton"/>
              </a:rPr>
              <a:t>PRELIMINARY IMPLEMENTATION IS COMPLETE FOR PREPROCESSING, CUSTOMER–PART GROUPING, IPI ANALYSIS AND CONTROLLED EARLY-REORDER EXPERIMENTS.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183164" y="7832215"/>
            <a:ext cx="433860" cy="4636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08"/>
              </a:lnSpc>
            </a:pPr>
            <a:r>
              <a:rPr lang="en-US" sz="3090" spc="-30">
                <a:solidFill>
                  <a:srgbClr val="0F172A"/>
                </a:solidFill>
                <a:latin typeface="Anton"/>
                <a:ea typeface="Anton"/>
                <a:cs typeface="Anton"/>
                <a:sym typeface="Anton"/>
              </a:rPr>
              <a:t>4.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bg>
      <p:bgPr>
        <a:solidFill>
          <a:srgbClr val="FEDE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8025110" y="7427069"/>
            <a:ext cx="262890" cy="1831231"/>
            <a:chOff x="0" y="0"/>
            <a:chExt cx="69239" cy="48229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9239" cy="482299"/>
            </a:xfrm>
            <a:custGeom>
              <a:avLst/>
              <a:gdLst/>
              <a:ahLst/>
              <a:cxnLst/>
              <a:rect r="r" b="b" t="t" l="l"/>
              <a:pathLst>
                <a:path h="482299" w="69239">
                  <a:moveTo>
                    <a:pt x="0" y="0"/>
                  </a:moveTo>
                  <a:lnTo>
                    <a:pt x="69239" y="0"/>
                  </a:lnTo>
                  <a:lnTo>
                    <a:pt x="69239" y="482299"/>
                  </a:lnTo>
                  <a:lnTo>
                    <a:pt x="0" y="482299"/>
                  </a:lnTo>
                  <a:close/>
                </a:path>
              </a:pathLst>
            </a:custGeom>
            <a:solidFill>
              <a:srgbClr val="70020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69239" cy="4918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18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465257" y="751525"/>
            <a:ext cx="6880845" cy="1048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55"/>
              </a:lnSpc>
            </a:pPr>
            <a:r>
              <a:rPr lang="en-US" sz="8771" spc="-429">
                <a:solidFill>
                  <a:srgbClr val="70020F"/>
                </a:solidFill>
                <a:latin typeface="Anton"/>
                <a:ea typeface="Anton"/>
                <a:cs typeface="Anton"/>
                <a:sym typeface="Anton"/>
              </a:rPr>
              <a:t>SDG</a:t>
            </a:r>
            <a:r>
              <a:rPr lang="en-US" sz="8771" spc="-429">
                <a:solidFill>
                  <a:srgbClr val="70020F"/>
                </a:solidFill>
                <a:latin typeface="Anton"/>
                <a:ea typeface="Anton"/>
                <a:cs typeface="Anton"/>
                <a:sym typeface="Anton"/>
              </a:rPr>
              <a:t> MAPPING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520343" y="2104490"/>
            <a:ext cx="12019255" cy="3820200"/>
            <a:chOff x="0" y="0"/>
            <a:chExt cx="16025673" cy="5093600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152400"/>
              <a:ext cx="15962145" cy="127513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758"/>
                </a:lnSpc>
              </a:pPr>
              <a:r>
                <a:rPr lang="en-US" sz="4421" spc="-216">
                  <a:solidFill>
                    <a:srgbClr val="000000"/>
                  </a:solidFill>
                  <a:latin typeface="Anton"/>
                  <a:ea typeface="Anton"/>
                  <a:cs typeface="Anton"/>
                  <a:sym typeface="Anton"/>
                </a:rPr>
                <a:t>SDG 9 — INDUSTRY, INNOVATION AND INFRASTRUCTURE</a:t>
              </a:r>
            </a:p>
            <a:p>
              <a:pPr algn="l">
                <a:lnSpc>
                  <a:spcPts val="4183"/>
                </a:lnSpc>
              </a:pPr>
              <a:r>
                <a:rPr lang="en-US" sz="3121" spc="-152">
                  <a:solidFill>
                    <a:srgbClr val="000000"/>
                  </a:solidFill>
                  <a:latin typeface="Anton"/>
                  <a:ea typeface="Anton"/>
                  <a:cs typeface="Anton"/>
                  <a:sym typeface="Anton"/>
                </a:rPr>
                <a:t>MACHINE LEARNING &amp; DATA-DRIVEN ANALYTICS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63528" y="1637011"/>
              <a:ext cx="15962145" cy="345658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183"/>
                </a:lnSpc>
              </a:pPr>
              <a:r>
                <a:rPr lang="en-US" sz="3121" spc="-152">
                  <a:solidFill>
                    <a:srgbClr val="0F172A"/>
                  </a:solidFill>
                  <a:latin typeface="Anton"/>
                  <a:ea typeface="Anton"/>
                  <a:cs typeface="Anton"/>
                  <a:sym typeface="Anton"/>
                </a:rPr>
                <a:t>THE PROJECT APPLIES MACHINE LEARNING TO B2B PROCUREMENT BY ANALYSING CUSTOMER–PART PURCHASE</a:t>
              </a:r>
              <a:r>
                <a:rPr lang="en-US" sz="3121" spc="-152">
                  <a:solidFill>
                    <a:srgbClr val="0F172A"/>
                  </a:solidFill>
                  <a:latin typeface="Anton"/>
                  <a:ea typeface="Anton"/>
                  <a:cs typeface="Anton"/>
                  <a:sym typeface="Anton"/>
                </a:rPr>
                <a:t> HISTORIES AND INTER-PURCHASE INTERVALS TO IDENTIFY POTENTIALLY EARLY REORDER EVENTS.  </a:t>
              </a:r>
            </a:p>
            <a:p>
              <a:pPr algn="l">
                <a:lnSpc>
                  <a:spcPts val="4183"/>
                </a:lnSpc>
              </a:pPr>
              <a:r>
                <a:rPr lang="en-US" sz="3121" spc="-152">
                  <a:solidFill>
                    <a:srgbClr val="0F172A"/>
                  </a:solidFill>
                  <a:latin typeface="Anton"/>
                  <a:ea typeface="Anton"/>
                  <a:cs typeface="Anton"/>
                  <a:sym typeface="Anton"/>
                </a:rPr>
                <a:t>CONTRIBUTION:</a:t>
              </a:r>
            </a:p>
            <a:p>
              <a:pPr algn="l">
                <a:lnSpc>
                  <a:spcPts val="4183"/>
                </a:lnSpc>
              </a:pPr>
              <a:r>
                <a:rPr lang="en-US" sz="3121" spc="-152">
                  <a:solidFill>
                    <a:srgbClr val="0F172A"/>
                  </a:solidFill>
                  <a:latin typeface="Anton"/>
                  <a:ea typeface="Anton"/>
                  <a:cs typeface="Anton"/>
                  <a:sym typeface="Anton"/>
                </a:rPr>
                <a:t>SUPPORTS DIGITAL TRANSFORMATION AND DATA-DRIVEN DECISION-MAKING IN PROCUREMENT.</a:t>
              </a: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465257" y="6305690"/>
            <a:ext cx="12361526" cy="1422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57"/>
              </a:lnSpc>
            </a:pPr>
            <a:r>
              <a:rPr lang="en-US" sz="4565" spc="-223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SDG 12 — RESPONSIBLE CONSUMPTION AND PRODUCTION</a:t>
            </a:r>
          </a:p>
          <a:p>
            <a:pPr algn="l">
              <a:lnSpc>
                <a:spcPts val="3264"/>
              </a:lnSpc>
            </a:pPr>
            <a:r>
              <a:rPr lang="en-US" sz="3200" spc="-156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INFORMED PROCUREMENT &amp; RESOURCE MANAGEMENT</a:t>
            </a:r>
          </a:p>
          <a:p>
            <a:pPr algn="l">
              <a:lnSpc>
                <a:spcPts val="3264"/>
              </a:lnSpc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1489080" y="7519241"/>
            <a:ext cx="11971609" cy="26019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83"/>
              </a:lnSpc>
            </a:pPr>
            <a:r>
              <a:rPr lang="en-US" sz="3121" spc="-152">
                <a:solidFill>
                  <a:srgbClr val="0F172A"/>
                </a:solidFill>
                <a:latin typeface="Anton"/>
                <a:ea typeface="Anton"/>
                <a:cs typeface="Anton"/>
                <a:sym typeface="Anton"/>
              </a:rPr>
              <a:t>THE PROJECT APPLIES MACHINE LEARNING TO B2B PROCUREMENT BY ANALYSING CUSTOMER–PART PURCHASE</a:t>
            </a:r>
            <a:r>
              <a:rPr lang="en-US" sz="3121" spc="-152">
                <a:solidFill>
                  <a:srgbClr val="0F172A"/>
                </a:solidFill>
                <a:latin typeface="Anton"/>
                <a:ea typeface="Anton"/>
                <a:cs typeface="Anton"/>
                <a:sym typeface="Anton"/>
              </a:rPr>
              <a:t> HISTORIES AND INTER-PURCHASE INTERVALS TO IDENTIFY POTENTIALLY EARLY REORDER EVENTS.  </a:t>
            </a:r>
          </a:p>
          <a:p>
            <a:pPr algn="l">
              <a:lnSpc>
                <a:spcPts val="4183"/>
              </a:lnSpc>
            </a:pPr>
            <a:r>
              <a:rPr lang="en-US" sz="3121" spc="-152">
                <a:solidFill>
                  <a:srgbClr val="0F172A"/>
                </a:solidFill>
                <a:latin typeface="Anton"/>
                <a:ea typeface="Anton"/>
                <a:cs typeface="Anton"/>
                <a:sym typeface="Anton"/>
              </a:rPr>
              <a:t>CONTRIBUTION:</a:t>
            </a:r>
          </a:p>
          <a:p>
            <a:pPr algn="l">
              <a:lnSpc>
                <a:spcPts val="4183"/>
              </a:lnSpc>
            </a:pPr>
            <a:r>
              <a:rPr lang="en-US" sz="3121" spc="-152">
                <a:solidFill>
                  <a:srgbClr val="0F172A"/>
                </a:solidFill>
                <a:latin typeface="Anton"/>
                <a:ea typeface="Anton"/>
                <a:cs typeface="Anton"/>
                <a:sym typeface="Anton"/>
              </a:rPr>
              <a:t>SUPPORTS DIGITAL TRANSFORMATION AND DATA-DRIVEN DECISION-MAKING IN PROCUREMENT.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bg>
      <p:bgPr>
        <a:solidFill>
          <a:srgbClr val="FEDE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90577" y="448096"/>
            <a:ext cx="9040391" cy="723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00"/>
              </a:lnSpc>
            </a:pPr>
            <a:r>
              <a:rPr lang="en-US" sz="6000" spc="-294">
                <a:solidFill>
                  <a:srgbClr val="70020F"/>
                </a:solidFill>
                <a:latin typeface="Anton"/>
                <a:ea typeface="Anton"/>
                <a:cs typeface="Anton"/>
                <a:sym typeface="Anton"/>
              </a:rPr>
              <a:t>REFERENCES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914400" y="1634357"/>
            <a:ext cx="16459200" cy="757238"/>
            <a:chOff x="0" y="0"/>
            <a:chExt cx="21945600" cy="1009650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0" y="0"/>
              <a:ext cx="21945600" cy="1009650"/>
              <a:chOff x="0" y="0"/>
              <a:chExt cx="21945600" cy="1009650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21945600" cy="1009650"/>
              </a:xfrm>
              <a:custGeom>
                <a:avLst/>
                <a:gdLst/>
                <a:ahLst/>
                <a:cxnLst/>
                <a:rect r="r" b="b" t="t" l="l"/>
                <a:pathLst>
                  <a:path h="1009650" w="21945600">
                    <a:moveTo>
                      <a:pt x="0" y="76200"/>
                    </a:moveTo>
                    <a:cubicBezTo>
                      <a:pt x="0" y="34163"/>
                      <a:pt x="34163" y="0"/>
                      <a:pt x="76200" y="0"/>
                    </a:cubicBezTo>
                    <a:lnTo>
                      <a:pt x="21869400" y="0"/>
                    </a:lnTo>
                    <a:cubicBezTo>
                      <a:pt x="21911438" y="0"/>
                      <a:pt x="21945600" y="34163"/>
                      <a:pt x="21945600" y="76200"/>
                    </a:cubicBezTo>
                    <a:lnTo>
                      <a:pt x="21945600" y="933450"/>
                    </a:lnTo>
                    <a:cubicBezTo>
                      <a:pt x="21945600" y="975487"/>
                      <a:pt x="21911438" y="1009650"/>
                      <a:pt x="21869400" y="1009650"/>
                    </a:cubicBezTo>
                    <a:lnTo>
                      <a:pt x="76200" y="1009650"/>
                    </a:lnTo>
                    <a:cubicBezTo>
                      <a:pt x="34163" y="1009650"/>
                      <a:pt x="0" y="975487"/>
                      <a:pt x="0" y="933450"/>
                    </a:cubicBezTo>
                    <a:close/>
                  </a:path>
                </a:pathLst>
              </a:custGeom>
              <a:solidFill>
                <a:srgbClr val="F8FAFC"/>
              </a:solidFill>
            </p:spPr>
          </p:sp>
        </p:grpSp>
        <p:sp>
          <p:nvSpPr>
            <p:cNvPr name="TextBox 6" id="6"/>
            <p:cNvSpPr txBox="true"/>
            <p:nvPr/>
          </p:nvSpPr>
          <p:spPr>
            <a:xfrm rot="0">
              <a:off x="152400" y="88900"/>
              <a:ext cx="21043202" cy="8223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30"/>
                </a:lnSpc>
              </a:pPr>
              <a:r>
                <a:rPr lang="en-US" sz="2025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 [1] S. P. Kenaka et al.,</a:t>
              </a:r>
              <a:r>
                <a:rPr lang="en-US" sz="2025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 “Enhancing Intermittent Spare Part Demand Forecasting: A Novel Ensemble Approach with Focal Loss and SMOTE,” Logistics, 2025. doi: 10.3390/logistics9010025.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914400" y="2734494"/>
            <a:ext cx="16459200" cy="757238"/>
            <a:chOff x="0" y="0"/>
            <a:chExt cx="21945600" cy="1009650"/>
          </a:xfrm>
        </p:grpSpPr>
        <p:grpSp>
          <p:nvGrpSpPr>
            <p:cNvPr name="Group 8" id="8"/>
            <p:cNvGrpSpPr/>
            <p:nvPr/>
          </p:nvGrpSpPr>
          <p:grpSpPr>
            <a:xfrm rot="0">
              <a:off x="0" y="0"/>
              <a:ext cx="21945600" cy="1009650"/>
              <a:chOff x="0" y="0"/>
              <a:chExt cx="21945600" cy="1009650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21945600" cy="1009650"/>
              </a:xfrm>
              <a:custGeom>
                <a:avLst/>
                <a:gdLst/>
                <a:ahLst/>
                <a:cxnLst/>
                <a:rect r="r" b="b" t="t" l="l"/>
                <a:pathLst>
                  <a:path h="1009650" w="21945600">
                    <a:moveTo>
                      <a:pt x="0" y="76200"/>
                    </a:moveTo>
                    <a:cubicBezTo>
                      <a:pt x="0" y="34163"/>
                      <a:pt x="34163" y="0"/>
                      <a:pt x="76200" y="0"/>
                    </a:cubicBezTo>
                    <a:lnTo>
                      <a:pt x="21869400" y="0"/>
                    </a:lnTo>
                    <a:cubicBezTo>
                      <a:pt x="21911438" y="0"/>
                      <a:pt x="21945600" y="34163"/>
                      <a:pt x="21945600" y="76200"/>
                    </a:cubicBezTo>
                    <a:lnTo>
                      <a:pt x="21945600" y="933450"/>
                    </a:lnTo>
                    <a:cubicBezTo>
                      <a:pt x="21945600" y="975487"/>
                      <a:pt x="21911438" y="1009650"/>
                      <a:pt x="21869400" y="1009650"/>
                    </a:cubicBezTo>
                    <a:lnTo>
                      <a:pt x="76200" y="1009650"/>
                    </a:lnTo>
                    <a:cubicBezTo>
                      <a:pt x="34163" y="1009650"/>
                      <a:pt x="0" y="975487"/>
                      <a:pt x="0" y="933450"/>
                    </a:cubicBezTo>
                    <a:close/>
                  </a:path>
                </a:pathLst>
              </a:custGeom>
              <a:solidFill>
                <a:srgbClr val="F8FAFC"/>
              </a:solidFill>
            </p:spPr>
          </p:sp>
        </p:grpSp>
        <p:sp>
          <p:nvSpPr>
            <p:cNvPr name="TextBox 10" id="10"/>
            <p:cNvSpPr txBox="true"/>
            <p:nvPr/>
          </p:nvSpPr>
          <p:spPr>
            <a:xfrm rot="0">
              <a:off x="152400" y="88900"/>
              <a:ext cx="21043202" cy="8223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30"/>
                </a:lnSpc>
              </a:pPr>
              <a:r>
                <a:rPr lang="en-US" sz="2025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[2] R. L. Goldsmith and A.-L.</a:t>
              </a:r>
              <a:r>
                <a:rPr lang="en-US" sz="2025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 Sachs, “Spare Part Demand Forecasting in Every Phase: A Data Pooling Approach to the Bass Life Cycle Model,” International Journal of Production Research, 2025. doi: 10.1080/00207543.2025.2607643.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14400" y="3834632"/>
            <a:ext cx="16459200" cy="757238"/>
            <a:chOff x="0" y="0"/>
            <a:chExt cx="21945600" cy="1009650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0" y="0"/>
              <a:ext cx="21945600" cy="1009650"/>
              <a:chOff x="0" y="0"/>
              <a:chExt cx="21945600" cy="1009650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21945600" cy="1009650"/>
              </a:xfrm>
              <a:custGeom>
                <a:avLst/>
                <a:gdLst/>
                <a:ahLst/>
                <a:cxnLst/>
                <a:rect r="r" b="b" t="t" l="l"/>
                <a:pathLst>
                  <a:path h="1009650" w="21945600">
                    <a:moveTo>
                      <a:pt x="0" y="76200"/>
                    </a:moveTo>
                    <a:cubicBezTo>
                      <a:pt x="0" y="34163"/>
                      <a:pt x="34163" y="0"/>
                      <a:pt x="76200" y="0"/>
                    </a:cubicBezTo>
                    <a:lnTo>
                      <a:pt x="21869400" y="0"/>
                    </a:lnTo>
                    <a:cubicBezTo>
                      <a:pt x="21911438" y="0"/>
                      <a:pt x="21945600" y="34163"/>
                      <a:pt x="21945600" y="76200"/>
                    </a:cubicBezTo>
                    <a:lnTo>
                      <a:pt x="21945600" y="933450"/>
                    </a:lnTo>
                    <a:cubicBezTo>
                      <a:pt x="21945600" y="975487"/>
                      <a:pt x="21911438" y="1009650"/>
                      <a:pt x="21869400" y="1009650"/>
                    </a:cubicBezTo>
                    <a:lnTo>
                      <a:pt x="76200" y="1009650"/>
                    </a:lnTo>
                    <a:cubicBezTo>
                      <a:pt x="34163" y="1009650"/>
                      <a:pt x="0" y="975487"/>
                      <a:pt x="0" y="933450"/>
                    </a:cubicBezTo>
                    <a:close/>
                  </a:path>
                </a:pathLst>
              </a:custGeom>
              <a:solidFill>
                <a:srgbClr val="F8FAFC"/>
              </a:solidFill>
            </p:spPr>
          </p:sp>
        </p:grpSp>
        <p:sp>
          <p:nvSpPr>
            <p:cNvPr name="TextBox 14" id="14"/>
            <p:cNvSpPr txBox="true"/>
            <p:nvPr/>
          </p:nvSpPr>
          <p:spPr>
            <a:xfrm rot="0">
              <a:off x="152400" y="88900"/>
              <a:ext cx="21043202" cy="8223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30"/>
                </a:lnSpc>
              </a:pPr>
              <a:r>
                <a:rPr lang="en-US" sz="2025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[3] Z. Kunić et al.,</a:t>
              </a:r>
              <a:r>
                <a:rPr lang="en-US" sz="2025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 “Derived Feature Engineering and ABC–XYZ Segmentation for Machine Learning-Based Forecasting of Intermittent Spare Parts Demand,” Applied Sciences, 2026. doi: 10.3390/app16125804.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914400" y="4934769"/>
            <a:ext cx="16459200" cy="757238"/>
            <a:chOff x="0" y="0"/>
            <a:chExt cx="21945600" cy="1009650"/>
          </a:xfrm>
        </p:grpSpPr>
        <p:grpSp>
          <p:nvGrpSpPr>
            <p:cNvPr name="Group 16" id="16"/>
            <p:cNvGrpSpPr/>
            <p:nvPr/>
          </p:nvGrpSpPr>
          <p:grpSpPr>
            <a:xfrm rot="0">
              <a:off x="0" y="0"/>
              <a:ext cx="21945600" cy="1009650"/>
              <a:chOff x="0" y="0"/>
              <a:chExt cx="21945600" cy="1009650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21945600" cy="1009650"/>
              </a:xfrm>
              <a:custGeom>
                <a:avLst/>
                <a:gdLst/>
                <a:ahLst/>
                <a:cxnLst/>
                <a:rect r="r" b="b" t="t" l="l"/>
                <a:pathLst>
                  <a:path h="1009650" w="21945600">
                    <a:moveTo>
                      <a:pt x="0" y="76200"/>
                    </a:moveTo>
                    <a:cubicBezTo>
                      <a:pt x="0" y="34163"/>
                      <a:pt x="34163" y="0"/>
                      <a:pt x="76200" y="0"/>
                    </a:cubicBezTo>
                    <a:lnTo>
                      <a:pt x="21869400" y="0"/>
                    </a:lnTo>
                    <a:cubicBezTo>
                      <a:pt x="21911438" y="0"/>
                      <a:pt x="21945600" y="34163"/>
                      <a:pt x="21945600" y="76200"/>
                    </a:cubicBezTo>
                    <a:lnTo>
                      <a:pt x="21945600" y="933450"/>
                    </a:lnTo>
                    <a:cubicBezTo>
                      <a:pt x="21945600" y="975487"/>
                      <a:pt x="21911438" y="1009650"/>
                      <a:pt x="21869400" y="1009650"/>
                    </a:cubicBezTo>
                    <a:lnTo>
                      <a:pt x="76200" y="1009650"/>
                    </a:lnTo>
                    <a:cubicBezTo>
                      <a:pt x="34163" y="1009650"/>
                      <a:pt x="0" y="975487"/>
                      <a:pt x="0" y="933450"/>
                    </a:cubicBezTo>
                    <a:close/>
                  </a:path>
                </a:pathLst>
              </a:custGeom>
              <a:solidFill>
                <a:srgbClr val="F8FAFC"/>
              </a:solidFill>
            </p:spPr>
          </p:sp>
        </p:grpSp>
        <p:sp>
          <p:nvSpPr>
            <p:cNvPr name="TextBox 18" id="18"/>
            <p:cNvSpPr txBox="true"/>
            <p:nvPr/>
          </p:nvSpPr>
          <p:spPr>
            <a:xfrm rot="0">
              <a:off x="152400" y="88900"/>
              <a:ext cx="21043202" cy="8223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30"/>
                </a:lnSpc>
              </a:pPr>
              <a:r>
                <a:rPr lang="en-US" sz="2025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[4] S. Nathan et al.,</a:t>
              </a:r>
              <a:r>
                <a:rPr lang="en-US" sz="2025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 “A Machine Learning Framework for Long-Term Forecasting of Spare Part Demand in End-of-Life Product Scenarios,” Scientific Reports, 2026. doi: 10.1038/s41598-025-31171-2.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914400" y="6034907"/>
            <a:ext cx="16459200" cy="757238"/>
            <a:chOff x="0" y="0"/>
            <a:chExt cx="21945600" cy="1009650"/>
          </a:xfrm>
        </p:grpSpPr>
        <p:grpSp>
          <p:nvGrpSpPr>
            <p:cNvPr name="Group 20" id="20"/>
            <p:cNvGrpSpPr/>
            <p:nvPr/>
          </p:nvGrpSpPr>
          <p:grpSpPr>
            <a:xfrm rot="0">
              <a:off x="0" y="0"/>
              <a:ext cx="21945600" cy="1009650"/>
              <a:chOff x="0" y="0"/>
              <a:chExt cx="21945600" cy="1009650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21945600" cy="1009650"/>
              </a:xfrm>
              <a:custGeom>
                <a:avLst/>
                <a:gdLst/>
                <a:ahLst/>
                <a:cxnLst/>
                <a:rect r="r" b="b" t="t" l="l"/>
                <a:pathLst>
                  <a:path h="1009650" w="21945600">
                    <a:moveTo>
                      <a:pt x="0" y="76200"/>
                    </a:moveTo>
                    <a:cubicBezTo>
                      <a:pt x="0" y="34163"/>
                      <a:pt x="34163" y="0"/>
                      <a:pt x="76200" y="0"/>
                    </a:cubicBezTo>
                    <a:lnTo>
                      <a:pt x="21869400" y="0"/>
                    </a:lnTo>
                    <a:cubicBezTo>
                      <a:pt x="21911438" y="0"/>
                      <a:pt x="21945600" y="34163"/>
                      <a:pt x="21945600" y="76200"/>
                    </a:cubicBezTo>
                    <a:lnTo>
                      <a:pt x="21945600" y="933450"/>
                    </a:lnTo>
                    <a:cubicBezTo>
                      <a:pt x="21945600" y="975487"/>
                      <a:pt x="21911438" y="1009650"/>
                      <a:pt x="21869400" y="1009650"/>
                    </a:cubicBezTo>
                    <a:lnTo>
                      <a:pt x="76200" y="1009650"/>
                    </a:lnTo>
                    <a:cubicBezTo>
                      <a:pt x="34163" y="1009650"/>
                      <a:pt x="0" y="975487"/>
                      <a:pt x="0" y="933450"/>
                    </a:cubicBezTo>
                    <a:close/>
                  </a:path>
                </a:pathLst>
              </a:custGeom>
              <a:solidFill>
                <a:srgbClr val="F8FAFC"/>
              </a:solidFill>
            </p:spPr>
          </p:sp>
        </p:grpSp>
        <p:sp>
          <p:nvSpPr>
            <p:cNvPr name="TextBox 22" id="22"/>
            <p:cNvSpPr txBox="true"/>
            <p:nvPr/>
          </p:nvSpPr>
          <p:spPr>
            <a:xfrm rot="0">
              <a:off x="152400" y="88900"/>
              <a:ext cx="21043202" cy="8223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30"/>
                </a:lnSpc>
              </a:pPr>
              <a:r>
                <a:rPr lang="en-US" sz="2025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[5] B. S. Nathan et al.,</a:t>
              </a:r>
              <a:r>
                <a:rPr lang="en-US" sz="2025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 “Primacy of Feature Engineering Over Architectural Complexity for Intermittent Demand Forecasting,” Scientific Reports, 2026. doi: 10.1038/s41598-026-35197-y.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914400" y="7135044"/>
            <a:ext cx="16459200" cy="757238"/>
            <a:chOff x="0" y="0"/>
            <a:chExt cx="21945600" cy="1009650"/>
          </a:xfrm>
        </p:grpSpPr>
        <p:grpSp>
          <p:nvGrpSpPr>
            <p:cNvPr name="Group 24" id="24"/>
            <p:cNvGrpSpPr/>
            <p:nvPr/>
          </p:nvGrpSpPr>
          <p:grpSpPr>
            <a:xfrm rot="0">
              <a:off x="0" y="0"/>
              <a:ext cx="21945600" cy="1009650"/>
              <a:chOff x="0" y="0"/>
              <a:chExt cx="21945600" cy="1009650"/>
            </a:xfrm>
          </p:grpSpPr>
          <p:sp>
            <p:nvSpPr>
              <p:cNvPr name="Freeform 25" id="25"/>
              <p:cNvSpPr/>
              <p:nvPr/>
            </p:nvSpPr>
            <p:spPr>
              <a:xfrm flipH="false" flipV="false" rot="0">
                <a:off x="0" y="0"/>
                <a:ext cx="21945600" cy="1009650"/>
              </a:xfrm>
              <a:custGeom>
                <a:avLst/>
                <a:gdLst/>
                <a:ahLst/>
                <a:cxnLst/>
                <a:rect r="r" b="b" t="t" l="l"/>
                <a:pathLst>
                  <a:path h="1009650" w="21945600">
                    <a:moveTo>
                      <a:pt x="0" y="76200"/>
                    </a:moveTo>
                    <a:cubicBezTo>
                      <a:pt x="0" y="34163"/>
                      <a:pt x="34163" y="0"/>
                      <a:pt x="76200" y="0"/>
                    </a:cubicBezTo>
                    <a:lnTo>
                      <a:pt x="21869400" y="0"/>
                    </a:lnTo>
                    <a:cubicBezTo>
                      <a:pt x="21911438" y="0"/>
                      <a:pt x="21945600" y="34163"/>
                      <a:pt x="21945600" y="76200"/>
                    </a:cubicBezTo>
                    <a:lnTo>
                      <a:pt x="21945600" y="933450"/>
                    </a:lnTo>
                    <a:cubicBezTo>
                      <a:pt x="21945600" y="975487"/>
                      <a:pt x="21911438" y="1009650"/>
                      <a:pt x="21869400" y="1009650"/>
                    </a:cubicBezTo>
                    <a:lnTo>
                      <a:pt x="76200" y="1009650"/>
                    </a:lnTo>
                    <a:cubicBezTo>
                      <a:pt x="34163" y="1009650"/>
                      <a:pt x="0" y="975487"/>
                      <a:pt x="0" y="933450"/>
                    </a:cubicBezTo>
                    <a:close/>
                  </a:path>
                </a:pathLst>
              </a:custGeom>
              <a:solidFill>
                <a:srgbClr val="F8FAFC"/>
              </a:solidFill>
            </p:spPr>
          </p:sp>
        </p:grpSp>
        <p:sp>
          <p:nvSpPr>
            <p:cNvPr name="TextBox 26" id="26"/>
            <p:cNvSpPr txBox="true"/>
            <p:nvPr/>
          </p:nvSpPr>
          <p:spPr>
            <a:xfrm rot="0">
              <a:off x="152400" y="88900"/>
              <a:ext cx="21043202" cy="8223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30"/>
                </a:lnSpc>
              </a:pPr>
              <a:r>
                <a:rPr lang="en-US" sz="2025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[6] M. Abbaszadeh Nakhost et al.,</a:t>
              </a:r>
              <a:r>
                <a:rPr lang="en-US" sz="2025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 “Full Automation or Just a Copilot? A Study of Large Language Models on Spare Parts Demand Forecasting with OpenAI o1-mini,” International Journal of Production Research, 2025. doi: 10.1080/00207543.2025.2591225.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914400" y="8235182"/>
            <a:ext cx="16459200" cy="757238"/>
            <a:chOff x="0" y="0"/>
            <a:chExt cx="21945600" cy="1009650"/>
          </a:xfrm>
        </p:grpSpPr>
        <p:grpSp>
          <p:nvGrpSpPr>
            <p:cNvPr name="Group 28" id="28"/>
            <p:cNvGrpSpPr/>
            <p:nvPr/>
          </p:nvGrpSpPr>
          <p:grpSpPr>
            <a:xfrm rot="0">
              <a:off x="0" y="0"/>
              <a:ext cx="21945600" cy="1009650"/>
              <a:chOff x="0" y="0"/>
              <a:chExt cx="21945600" cy="1009650"/>
            </a:xfrm>
          </p:grpSpPr>
          <p:sp>
            <p:nvSpPr>
              <p:cNvPr name="Freeform 29" id="29"/>
              <p:cNvSpPr/>
              <p:nvPr/>
            </p:nvSpPr>
            <p:spPr>
              <a:xfrm flipH="false" flipV="false" rot="0">
                <a:off x="0" y="0"/>
                <a:ext cx="21945600" cy="1009650"/>
              </a:xfrm>
              <a:custGeom>
                <a:avLst/>
                <a:gdLst/>
                <a:ahLst/>
                <a:cxnLst/>
                <a:rect r="r" b="b" t="t" l="l"/>
                <a:pathLst>
                  <a:path h="1009650" w="21945600">
                    <a:moveTo>
                      <a:pt x="0" y="76200"/>
                    </a:moveTo>
                    <a:cubicBezTo>
                      <a:pt x="0" y="34163"/>
                      <a:pt x="34163" y="0"/>
                      <a:pt x="76200" y="0"/>
                    </a:cubicBezTo>
                    <a:lnTo>
                      <a:pt x="21869400" y="0"/>
                    </a:lnTo>
                    <a:cubicBezTo>
                      <a:pt x="21911438" y="0"/>
                      <a:pt x="21945600" y="34163"/>
                      <a:pt x="21945600" y="76200"/>
                    </a:cubicBezTo>
                    <a:lnTo>
                      <a:pt x="21945600" y="933450"/>
                    </a:lnTo>
                    <a:cubicBezTo>
                      <a:pt x="21945600" y="975487"/>
                      <a:pt x="21911438" y="1009650"/>
                      <a:pt x="21869400" y="1009650"/>
                    </a:cubicBezTo>
                    <a:lnTo>
                      <a:pt x="76200" y="1009650"/>
                    </a:lnTo>
                    <a:cubicBezTo>
                      <a:pt x="34163" y="1009650"/>
                      <a:pt x="0" y="975487"/>
                      <a:pt x="0" y="933450"/>
                    </a:cubicBezTo>
                    <a:close/>
                  </a:path>
                </a:pathLst>
              </a:custGeom>
              <a:solidFill>
                <a:srgbClr val="F8FAFC"/>
              </a:solidFill>
            </p:spPr>
          </p:sp>
        </p:grpSp>
        <p:sp>
          <p:nvSpPr>
            <p:cNvPr name="TextBox 30" id="30"/>
            <p:cNvSpPr txBox="true"/>
            <p:nvPr/>
          </p:nvSpPr>
          <p:spPr>
            <a:xfrm rot="0">
              <a:off x="152400" y="88900"/>
              <a:ext cx="21043202" cy="8223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30"/>
                </a:lnSpc>
              </a:pPr>
              <a:r>
                <a:rPr lang="en-US" sz="2025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[7] P. G. Giannopoulos et al.,</a:t>
              </a:r>
              <a:r>
                <a:rPr lang="en-US" sz="2025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 “Machine Learning Algorithms in Intermittent Demand Forecasting: A Review,” International Journal of Production Research, 2025. doi: 10.1080/00207543.2025.2578701.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890577" y="9335319"/>
            <a:ext cx="16459200" cy="757238"/>
            <a:chOff x="0" y="0"/>
            <a:chExt cx="21945600" cy="1009650"/>
          </a:xfrm>
        </p:grpSpPr>
        <p:grpSp>
          <p:nvGrpSpPr>
            <p:cNvPr name="Group 32" id="32"/>
            <p:cNvGrpSpPr/>
            <p:nvPr/>
          </p:nvGrpSpPr>
          <p:grpSpPr>
            <a:xfrm rot="0">
              <a:off x="0" y="0"/>
              <a:ext cx="21945600" cy="1009650"/>
              <a:chOff x="0" y="0"/>
              <a:chExt cx="21945600" cy="1009650"/>
            </a:xfrm>
          </p:grpSpPr>
          <p:sp>
            <p:nvSpPr>
              <p:cNvPr name="Freeform 33" id="33"/>
              <p:cNvSpPr/>
              <p:nvPr/>
            </p:nvSpPr>
            <p:spPr>
              <a:xfrm flipH="false" flipV="false" rot="0">
                <a:off x="0" y="0"/>
                <a:ext cx="21945600" cy="1009650"/>
              </a:xfrm>
              <a:custGeom>
                <a:avLst/>
                <a:gdLst/>
                <a:ahLst/>
                <a:cxnLst/>
                <a:rect r="r" b="b" t="t" l="l"/>
                <a:pathLst>
                  <a:path h="1009650" w="21945600">
                    <a:moveTo>
                      <a:pt x="0" y="76200"/>
                    </a:moveTo>
                    <a:cubicBezTo>
                      <a:pt x="0" y="34163"/>
                      <a:pt x="34163" y="0"/>
                      <a:pt x="76200" y="0"/>
                    </a:cubicBezTo>
                    <a:lnTo>
                      <a:pt x="21869400" y="0"/>
                    </a:lnTo>
                    <a:cubicBezTo>
                      <a:pt x="21911438" y="0"/>
                      <a:pt x="21945600" y="34163"/>
                      <a:pt x="21945600" y="76200"/>
                    </a:cubicBezTo>
                    <a:lnTo>
                      <a:pt x="21945600" y="933450"/>
                    </a:lnTo>
                    <a:cubicBezTo>
                      <a:pt x="21945600" y="975487"/>
                      <a:pt x="21911438" y="1009650"/>
                      <a:pt x="21869400" y="1009650"/>
                    </a:cubicBezTo>
                    <a:lnTo>
                      <a:pt x="76200" y="1009650"/>
                    </a:lnTo>
                    <a:cubicBezTo>
                      <a:pt x="34163" y="1009650"/>
                      <a:pt x="0" y="975487"/>
                      <a:pt x="0" y="933450"/>
                    </a:cubicBezTo>
                    <a:close/>
                  </a:path>
                </a:pathLst>
              </a:custGeom>
              <a:solidFill>
                <a:srgbClr val="F8FAFC"/>
              </a:solidFill>
            </p:spPr>
          </p:sp>
        </p:grpSp>
        <p:sp>
          <p:nvSpPr>
            <p:cNvPr name="TextBox 34" id="34"/>
            <p:cNvSpPr txBox="true"/>
            <p:nvPr/>
          </p:nvSpPr>
          <p:spPr>
            <a:xfrm rot="0">
              <a:off x="152400" y="88900"/>
              <a:ext cx="21043202" cy="8223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30"/>
                </a:lnSpc>
              </a:pPr>
              <a:r>
                <a:rPr lang="en-US" sz="2025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[8] “An Integrated Analytics Model for Supplier Selection and Order Allocation with</a:t>
              </a:r>
              <a:r>
                <a:rPr lang="en-US" sz="2025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 Machine Learning and Multi-Criteria Optimization,” Decision Analytics Journal, 2025. doi: 10.1016/j.dajour.2025.10059</a:t>
              </a:r>
            </a:p>
          </p:txBody>
        </p:sp>
      </p:grp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>
  <p:cSld>
    <p:bg>
      <p:bgPr>
        <a:solidFill>
          <a:srgbClr val="FEDE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96533" y="781460"/>
            <a:ext cx="16494934" cy="8724081"/>
            <a:chOff x="0" y="0"/>
            <a:chExt cx="21993246" cy="11632108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15882" y="1821358"/>
              <a:ext cx="21945600" cy="1009650"/>
              <a:chOff x="0" y="0"/>
              <a:chExt cx="21945600" cy="1009650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21945600" cy="1009650"/>
              </a:xfrm>
              <a:custGeom>
                <a:avLst/>
                <a:gdLst/>
                <a:ahLst/>
                <a:cxnLst/>
                <a:rect r="r" b="b" t="t" l="l"/>
                <a:pathLst>
                  <a:path h="1009650" w="21945600">
                    <a:moveTo>
                      <a:pt x="0" y="76200"/>
                    </a:moveTo>
                    <a:cubicBezTo>
                      <a:pt x="0" y="34163"/>
                      <a:pt x="34163" y="0"/>
                      <a:pt x="76200" y="0"/>
                    </a:cubicBezTo>
                    <a:lnTo>
                      <a:pt x="21869400" y="0"/>
                    </a:lnTo>
                    <a:cubicBezTo>
                      <a:pt x="21911438" y="0"/>
                      <a:pt x="21945600" y="34163"/>
                      <a:pt x="21945600" y="76200"/>
                    </a:cubicBezTo>
                    <a:lnTo>
                      <a:pt x="21945600" y="933450"/>
                    </a:lnTo>
                    <a:cubicBezTo>
                      <a:pt x="21945600" y="975487"/>
                      <a:pt x="21911438" y="1009650"/>
                      <a:pt x="21869400" y="1009650"/>
                    </a:cubicBezTo>
                    <a:lnTo>
                      <a:pt x="76200" y="1009650"/>
                    </a:lnTo>
                    <a:cubicBezTo>
                      <a:pt x="34163" y="1009650"/>
                      <a:pt x="0" y="975487"/>
                      <a:pt x="0" y="933450"/>
                    </a:cubicBezTo>
                    <a:close/>
                  </a:path>
                </a:pathLst>
              </a:custGeom>
              <a:solidFill>
                <a:srgbClr val="F8FAFC"/>
              </a:solidFill>
            </p:spPr>
          </p:sp>
        </p:grpSp>
        <p:sp>
          <p:nvSpPr>
            <p:cNvPr name="TextBox 5" id="5"/>
            <p:cNvSpPr txBox="true"/>
            <p:nvPr/>
          </p:nvSpPr>
          <p:spPr>
            <a:xfrm rot="0">
              <a:off x="168282" y="1910258"/>
              <a:ext cx="21043202" cy="8223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30"/>
                </a:lnSpc>
              </a:pPr>
              <a:r>
                <a:rPr lang="en-US" sz="2025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[10] E. Schneider dos</a:t>
              </a:r>
              <a:r>
                <a:rPr lang="en-US" sz="2025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 Santos et al., “Detection of Fraud in Public Procurement Using Data-Driven Methods: A Systematic Mapping Study,” EPJ Data Science, 2025. doi: 10.1140/epjds/s13688-025-00569-3.</a:t>
              </a:r>
            </a:p>
          </p:txBody>
        </p:sp>
        <p:grpSp>
          <p:nvGrpSpPr>
            <p:cNvPr name="Group 6" id="6"/>
            <p:cNvGrpSpPr/>
            <p:nvPr/>
          </p:nvGrpSpPr>
          <p:grpSpPr>
            <a:xfrm rot="0">
              <a:off x="47646" y="3288208"/>
              <a:ext cx="21945600" cy="1009650"/>
              <a:chOff x="0" y="0"/>
              <a:chExt cx="21945600" cy="100965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21945600" cy="1009650"/>
              </a:xfrm>
              <a:custGeom>
                <a:avLst/>
                <a:gdLst/>
                <a:ahLst/>
                <a:cxnLst/>
                <a:rect r="r" b="b" t="t" l="l"/>
                <a:pathLst>
                  <a:path h="1009650" w="21945600">
                    <a:moveTo>
                      <a:pt x="0" y="76200"/>
                    </a:moveTo>
                    <a:cubicBezTo>
                      <a:pt x="0" y="34163"/>
                      <a:pt x="34163" y="0"/>
                      <a:pt x="76200" y="0"/>
                    </a:cubicBezTo>
                    <a:lnTo>
                      <a:pt x="21869400" y="0"/>
                    </a:lnTo>
                    <a:cubicBezTo>
                      <a:pt x="21911438" y="0"/>
                      <a:pt x="21945600" y="34163"/>
                      <a:pt x="21945600" y="76200"/>
                    </a:cubicBezTo>
                    <a:lnTo>
                      <a:pt x="21945600" y="933450"/>
                    </a:lnTo>
                    <a:cubicBezTo>
                      <a:pt x="21945600" y="975487"/>
                      <a:pt x="21911438" y="1009650"/>
                      <a:pt x="21869400" y="1009650"/>
                    </a:cubicBezTo>
                    <a:lnTo>
                      <a:pt x="76200" y="1009650"/>
                    </a:lnTo>
                    <a:cubicBezTo>
                      <a:pt x="34163" y="1009650"/>
                      <a:pt x="0" y="975487"/>
                      <a:pt x="0" y="933450"/>
                    </a:cubicBezTo>
                    <a:close/>
                  </a:path>
                </a:pathLst>
              </a:custGeom>
              <a:solidFill>
                <a:srgbClr val="F8FAFC"/>
              </a:solidFill>
            </p:spPr>
          </p:sp>
        </p:grpSp>
        <p:sp>
          <p:nvSpPr>
            <p:cNvPr name="TextBox 8" id="8"/>
            <p:cNvSpPr txBox="true"/>
            <p:nvPr/>
          </p:nvSpPr>
          <p:spPr>
            <a:xfrm rot="0">
              <a:off x="200046" y="3377108"/>
              <a:ext cx="21043202" cy="8223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30"/>
                </a:lnSpc>
              </a:pPr>
              <a:r>
                <a:rPr lang="en-US" sz="2025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[11] A. Alaoua and M. Karim, “Intelligent Early Warning</a:t>
              </a:r>
              <a:r>
                <a:rPr lang="en-US" sz="2025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 System for Supplier Delays Using Dynamic IoT-Calibrated Probabilistic Modeling in Smart Engineer-to-Order Supply Chains,” Applied System Innovation, 2025. doi: 10.3390/asi8050124.</a:t>
              </a:r>
            </a:p>
          </p:txBody>
        </p:sp>
        <p:grpSp>
          <p:nvGrpSpPr>
            <p:cNvPr name="Group 9" id="9"/>
            <p:cNvGrpSpPr/>
            <p:nvPr/>
          </p:nvGrpSpPr>
          <p:grpSpPr>
            <a:xfrm rot="0">
              <a:off x="47646" y="4755058"/>
              <a:ext cx="21945600" cy="1009650"/>
              <a:chOff x="0" y="0"/>
              <a:chExt cx="21945600" cy="100965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21945600" cy="1009650"/>
              </a:xfrm>
              <a:custGeom>
                <a:avLst/>
                <a:gdLst/>
                <a:ahLst/>
                <a:cxnLst/>
                <a:rect r="r" b="b" t="t" l="l"/>
                <a:pathLst>
                  <a:path h="1009650" w="21945600">
                    <a:moveTo>
                      <a:pt x="0" y="76200"/>
                    </a:moveTo>
                    <a:cubicBezTo>
                      <a:pt x="0" y="34163"/>
                      <a:pt x="34163" y="0"/>
                      <a:pt x="76200" y="0"/>
                    </a:cubicBezTo>
                    <a:lnTo>
                      <a:pt x="21869400" y="0"/>
                    </a:lnTo>
                    <a:cubicBezTo>
                      <a:pt x="21911438" y="0"/>
                      <a:pt x="21945600" y="34163"/>
                      <a:pt x="21945600" y="76200"/>
                    </a:cubicBezTo>
                    <a:lnTo>
                      <a:pt x="21945600" y="933450"/>
                    </a:lnTo>
                    <a:cubicBezTo>
                      <a:pt x="21945600" y="975487"/>
                      <a:pt x="21911438" y="1009650"/>
                      <a:pt x="21869400" y="1009650"/>
                    </a:cubicBezTo>
                    <a:lnTo>
                      <a:pt x="76200" y="1009650"/>
                    </a:lnTo>
                    <a:cubicBezTo>
                      <a:pt x="34163" y="1009650"/>
                      <a:pt x="0" y="975487"/>
                      <a:pt x="0" y="933450"/>
                    </a:cubicBezTo>
                    <a:close/>
                  </a:path>
                </a:pathLst>
              </a:custGeom>
              <a:solidFill>
                <a:srgbClr val="F8FAFC"/>
              </a:solidFill>
            </p:spPr>
          </p:sp>
        </p:grpSp>
        <p:sp>
          <p:nvSpPr>
            <p:cNvPr name="TextBox 11" id="11"/>
            <p:cNvSpPr txBox="true"/>
            <p:nvPr/>
          </p:nvSpPr>
          <p:spPr>
            <a:xfrm rot="0">
              <a:off x="200046" y="4843958"/>
              <a:ext cx="21043202" cy="8223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30"/>
                </a:lnSpc>
              </a:pPr>
              <a:r>
                <a:rPr lang="en-US" sz="2025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[12] C. Xiaoyang, “Explainable Dual</a:t>
              </a:r>
              <a:r>
                <a:rPr lang="en-US" sz="2025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 LSTM-Autoencoders with Exogenous Features for Anomaly Detection and Supply Chain Forecasting,” Scientific Reports, 2025. doi: 10.1038/s41598-025-26449-4.</a:t>
              </a:r>
            </a:p>
          </p:txBody>
        </p:sp>
        <p:grpSp>
          <p:nvGrpSpPr>
            <p:cNvPr name="Group 12" id="12"/>
            <p:cNvGrpSpPr/>
            <p:nvPr/>
          </p:nvGrpSpPr>
          <p:grpSpPr>
            <a:xfrm rot="0">
              <a:off x="47646" y="6221908"/>
              <a:ext cx="21945600" cy="1009650"/>
              <a:chOff x="0" y="0"/>
              <a:chExt cx="21945600" cy="1009650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21945600" cy="1009650"/>
              </a:xfrm>
              <a:custGeom>
                <a:avLst/>
                <a:gdLst/>
                <a:ahLst/>
                <a:cxnLst/>
                <a:rect r="r" b="b" t="t" l="l"/>
                <a:pathLst>
                  <a:path h="1009650" w="21945600">
                    <a:moveTo>
                      <a:pt x="0" y="76200"/>
                    </a:moveTo>
                    <a:cubicBezTo>
                      <a:pt x="0" y="34163"/>
                      <a:pt x="34163" y="0"/>
                      <a:pt x="76200" y="0"/>
                    </a:cubicBezTo>
                    <a:lnTo>
                      <a:pt x="21869400" y="0"/>
                    </a:lnTo>
                    <a:cubicBezTo>
                      <a:pt x="21911438" y="0"/>
                      <a:pt x="21945600" y="34163"/>
                      <a:pt x="21945600" y="76200"/>
                    </a:cubicBezTo>
                    <a:lnTo>
                      <a:pt x="21945600" y="933450"/>
                    </a:lnTo>
                    <a:cubicBezTo>
                      <a:pt x="21945600" y="975487"/>
                      <a:pt x="21911438" y="1009650"/>
                      <a:pt x="21869400" y="1009650"/>
                    </a:cubicBezTo>
                    <a:lnTo>
                      <a:pt x="76200" y="1009650"/>
                    </a:lnTo>
                    <a:cubicBezTo>
                      <a:pt x="34163" y="1009650"/>
                      <a:pt x="0" y="975487"/>
                      <a:pt x="0" y="933450"/>
                    </a:cubicBezTo>
                    <a:close/>
                  </a:path>
                </a:pathLst>
              </a:custGeom>
              <a:solidFill>
                <a:srgbClr val="F8FAFC"/>
              </a:solidFill>
            </p:spPr>
          </p:sp>
        </p:grpSp>
        <p:sp>
          <p:nvSpPr>
            <p:cNvPr name="TextBox 14" id="14"/>
            <p:cNvSpPr txBox="true"/>
            <p:nvPr/>
          </p:nvSpPr>
          <p:spPr>
            <a:xfrm rot="0">
              <a:off x="200046" y="6310808"/>
              <a:ext cx="21043202" cy="8223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30"/>
                </a:lnSpc>
              </a:pPr>
              <a:r>
                <a:rPr lang="en-US" sz="2025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[13] S. Roosta et al.,</a:t>
              </a:r>
              <a:r>
                <a:rPr lang="en-US" sz="2025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 “Predicting Customer Loyalty in Omnichannel Retailing Using Purchase Behavior, Socio-Cultural Factors, and Learning Techniques,” PLOS ONE, 2025. doi: 10.1371/journal.pone.0330338.</a:t>
              </a:r>
            </a:p>
          </p:txBody>
        </p:sp>
        <p:grpSp>
          <p:nvGrpSpPr>
            <p:cNvPr name="Group 15" id="15"/>
            <p:cNvGrpSpPr/>
            <p:nvPr/>
          </p:nvGrpSpPr>
          <p:grpSpPr>
            <a:xfrm rot="0">
              <a:off x="47646" y="7688758"/>
              <a:ext cx="21945600" cy="1009650"/>
              <a:chOff x="0" y="0"/>
              <a:chExt cx="21945600" cy="1009650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21945600" cy="1009650"/>
              </a:xfrm>
              <a:custGeom>
                <a:avLst/>
                <a:gdLst/>
                <a:ahLst/>
                <a:cxnLst/>
                <a:rect r="r" b="b" t="t" l="l"/>
                <a:pathLst>
                  <a:path h="1009650" w="21945600">
                    <a:moveTo>
                      <a:pt x="0" y="76200"/>
                    </a:moveTo>
                    <a:cubicBezTo>
                      <a:pt x="0" y="34163"/>
                      <a:pt x="34163" y="0"/>
                      <a:pt x="76200" y="0"/>
                    </a:cubicBezTo>
                    <a:lnTo>
                      <a:pt x="21869400" y="0"/>
                    </a:lnTo>
                    <a:cubicBezTo>
                      <a:pt x="21911438" y="0"/>
                      <a:pt x="21945600" y="34163"/>
                      <a:pt x="21945600" y="76200"/>
                    </a:cubicBezTo>
                    <a:lnTo>
                      <a:pt x="21945600" y="933450"/>
                    </a:lnTo>
                    <a:cubicBezTo>
                      <a:pt x="21945600" y="975487"/>
                      <a:pt x="21911438" y="1009650"/>
                      <a:pt x="21869400" y="1009650"/>
                    </a:cubicBezTo>
                    <a:lnTo>
                      <a:pt x="76200" y="1009650"/>
                    </a:lnTo>
                    <a:cubicBezTo>
                      <a:pt x="34163" y="1009650"/>
                      <a:pt x="0" y="975487"/>
                      <a:pt x="0" y="933450"/>
                    </a:cubicBezTo>
                    <a:close/>
                  </a:path>
                </a:pathLst>
              </a:custGeom>
              <a:solidFill>
                <a:srgbClr val="F8FAFC"/>
              </a:solidFill>
            </p:spPr>
          </p:sp>
        </p:grpSp>
        <p:sp>
          <p:nvSpPr>
            <p:cNvPr name="TextBox 17" id="17"/>
            <p:cNvSpPr txBox="true"/>
            <p:nvPr/>
          </p:nvSpPr>
          <p:spPr>
            <a:xfrm rot="0">
              <a:off x="200046" y="7777658"/>
              <a:ext cx="21043202" cy="8223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30"/>
                </a:lnSpc>
              </a:pPr>
              <a:r>
                <a:rPr lang="en-US" sz="2025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[14] A. Herreros-Martínez et al.,</a:t>
              </a:r>
              <a:r>
                <a:rPr lang="en-US" sz="2025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 “Applied Machine Learning to Anomaly Detection in Enterprise Purchase Processes: A Hybrid Approach Using Clustering and Isolation Forest,” Information, 2025. doi: 10.3390/info16030177.</a:t>
              </a:r>
            </a:p>
          </p:txBody>
        </p:sp>
        <p:grpSp>
          <p:nvGrpSpPr>
            <p:cNvPr name="Group 18" id="18"/>
            <p:cNvGrpSpPr/>
            <p:nvPr/>
          </p:nvGrpSpPr>
          <p:grpSpPr>
            <a:xfrm rot="0">
              <a:off x="47646" y="9155608"/>
              <a:ext cx="21945600" cy="1009650"/>
              <a:chOff x="0" y="0"/>
              <a:chExt cx="21945600" cy="1009650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21945600" cy="1009650"/>
              </a:xfrm>
              <a:custGeom>
                <a:avLst/>
                <a:gdLst/>
                <a:ahLst/>
                <a:cxnLst/>
                <a:rect r="r" b="b" t="t" l="l"/>
                <a:pathLst>
                  <a:path h="1009650" w="21945600">
                    <a:moveTo>
                      <a:pt x="0" y="76200"/>
                    </a:moveTo>
                    <a:cubicBezTo>
                      <a:pt x="0" y="34163"/>
                      <a:pt x="34163" y="0"/>
                      <a:pt x="76200" y="0"/>
                    </a:cubicBezTo>
                    <a:lnTo>
                      <a:pt x="21869400" y="0"/>
                    </a:lnTo>
                    <a:cubicBezTo>
                      <a:pt x="21911438" y="0"/>
                      <a:pt x="21945600" y="34163"/>
                      <a:pt x="21945600" y="76200"/>
                    </a:cubicBezTo>
                    <a:lnTo>
                      <a:pt x="21945600" y="933450"/>
                    </a:lnTo>
                    <a:cubicBezTo>
                      <a:pt x="21945600" y="975487"/>
                      <a:pt x="21911438" y="1009650"/>
                      <a:pt x="21869400" y="1009650"/>
                    </a:cubicBezTo>
                    <a:lnTo>
                      <a:pt x="76200" y="1009650"/>
                    </a:lnTo>
                    <a:cubicBezTo>
                      <a:pt x="34163" y="1009650"/>
                      <a:pt x="0" y="975487"/>
                      <a:pt x="0" y="933450"/>
                    </a:cubicBezTo>
                    <a:close/>
                  </a:path>
                </a:pathLst>
              </a:custGeom>
              <a:solidFill>
                <a:srgbClr val="F8FAFC"/>
              </a:solidFill>
            </p:spPr>
          </p:sp>
        </p:grpSp>
        <p:sp>
          <p:nvSpPr>
            <p:cNvPr name="TextBox 20" id="20"/>
            <p:cNvSpPr txBox="true"/>
            <p:nvPr/>
          </p:nvSpPr>
          <p:spPr>
            <a:xfrm rot="0">
              <a:off x="200046" y="9244508"/>
              <a:ext cx="21043202" cy="8223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30"/>
                </a:lnSpc>
              </a:pPr>
              <a:r>
                <a:rPr lang="en-US" sz="2025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[15] M. Ndolo et al.,</a:t>
              </a:r>
              <a:r>
                <a:rPr lang="en-US" sz="2025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 “A Hybrid Machine Learning Model for Detecting and Preventing Corruption in Kenya’s Public Procurement Contracts,” Machine Learning Research, 2025. doi: 10.11648/j.mlr.20251002.14.</a:t>
              </a:r>
            </a:p>
          </p:txBody>
        </p:sp>
        <p:grpSp>
          <p:nvGrpSpPr>
            <p:cNvPr name="Group 21" id="21"/>
            <p:cNvGrpSpPr/>
            <p:nvPr/>
          </p:nvGrpSpPr>
          <p:grpSpPr>
            <a:xfrm rot="0">
              <a:off x="15882" y="10622458"/>
              <a:ext cx="21945600" cy="1009650"/>
              <a:chOff x="0" y="0"/>
              <a:chExt cx="21945600" cy="1009650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21945600" cy="1009650"/>
              </a:xfrm>
              <a:custGeom>
                <a:avLst/>
                <a:gdLst/>
                <a:ahLst/>
                <a:cxnLst/>
                <a:rect r="r" b="b" t="t" l="l"/>
                <a:pathLst>
                  <a:path h="1009650" w="21945600">
                    <a:moveTo>
                      <a:pt x="0" y="76200"/>
                    </a:moveTo>
                    <a:cubicBezTo>
                      <a:pt x="0" y="34163"/>
                      <a:pt x="34163" y="0"/>
                      <a:pt x="76200" y="0"/>
                    </a:cubicBezTo>
                    <a:lnTo>
                      <a:pt x="21869400" y="0"/>
                    </a:lnTo>
                    <a:cubicBezTo>
                      <a:pt x="21911438" y="0"/>
                      <a:pt x="21945600" y="34163"/>
                      <a:pt x="21945600" y="76200"/>
                    </a:cubicBezTo>
                    <a:lnTo>
                      <a:pt x="21945600" y="933450"/>
                    </a:lnTo>
                    <a:cubicBezTo>
                      <a:pt x="21945600" y="975487"/>
                      <a:pt x="21911438" y="1009650"/>
                      <a:pt x="21869400" y="1009650"/>
                    </a:cubicBezTo>
                    <a:lnTo>
                      <a:pt x="76200" y="1009650"/>
                    </a:lnTo>
                    <a:cubicBezTo>
                      <a:pt x="34163" y="1009650"/>
                      <a:pt x="0" y="975487"/>
                      <a:pt x="0" y="933450"/>
                    </a:cubicBezTo>
                    <a:close/>
                  </a:path>
                </a:pathLst>
              </a:custGeom>
              <a:solidFill>
                <a:srgbClr val="F8FAFC"/>
              </a:solidFill>
            </p:spPr>
          </p:sp>
        </p:grpSp>
        <p:sp>
          <p:nvSpPr>
            <p:cNvPr name="TextBox 23" id="23"/>
            <p:cNvSpPr txBox="true"/>
            <p:nvPr/>
          </p:nvSpPr>
          <p:spPr>
            <a:xfrm rot="0">
              <a:off x="168282" y="10711358"/>
              <a:ext cx="21043202" cy="8223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30"/>
                </a:lnSpc>
              </a:pPr>
              <a:r>
                <a:rPr lang="en-US" sz="2025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[16] A. Wong et al., “A</a:t>
              </a:r>
              <a:r>
                <a:rPr lang="en-US" sz="2025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 Data-Driven Approach to Customer Lifetime Value Prediction Using Probability and Machine Learning Models,” Decision Analytics Journal, 2025. doi: 10.1016/j.dajour.2025.100601.</a:t>
              </a:r>
            </a:p>
          </p:txBody>
        </p:sp>
        <p:grpSp>
          <p:nvGrpSpPr>
            <p:cNvPr name="Group 24" id="24"/>
            <p:cNvGrpSpPr/>
            <p:nvPr/>
          </p:nvGrpSpPr>
          <p:grpSpPr>
            <a:xfrm rot="0">
              <a:off x="0" y="0"/>
              <a:ext cx="21945600" cy="1416050"/>
              <a:chOff x="0" y="0"/>
              <a:chExt cx="21945600" cy="1416050"/>
            </a:xfrm>
          </p:grpSpPr>
          <p:sp>
            <p:nvSpPr>
              <p:cNvPr name="Freeform 25" id="25"/>
              <p:cNvSpPr/>
              <p:nvPr/>
            </p:nvSpPr>
            <p:spPr>
              <a:xfrm flipH="false" flipV="false" rot="0">
                <a:off x="0" y="0"/>
                <a:ext cx="21945600" cy="1416050"/>
              </a:xfrm>
              <a:custGeom>
                <a:avLst/>
                <a:gdLst/>
                <a:ahLst/>
                <a:cxnLst/>
                <a:rect r="r" b="b" t="t" l="l"/>
                <a:pathLst>
                  <a:path h="1416050" w="21945600">
                    <a:moveTo>
                      <a:pt x="0" y="106872"/>
                    </a:moveTo>
                    <a:cubicBezTo>
                      <a:pt x="0" y="47914"/>
                      <a:pt x="34163" y="0"/>
                      <a:pt x="76200" y="0"/>
                    </a:cubicBezTo>
                    <a:lnTo>
                      <a:pt x="21869400" y="0"/>
                    </a:lnTo>
                    <a:cubicBezTo>
                      <a:pt x="21911438" y="0"/>
                      <a:pt x="21945600" y="47914"/>
                      <a:pt x="21945600" y="106872"/>
                    </a:cubicBezTo>
                    <a:lnTo>
                      <a:pt x="21945600" y="1309178"/>
                    </a:lnTo>
                    <a:cubicBezTo>
                      <a:pt x="21945600" y="1368136"/>
                      <a:pt x="21911438" y="1416050"/>
                      <a:pt x="21869400" y="1416050"/>
                    </a:cubicBezTo>
                    <a:lnTo>
                      <a:pt x="76200" y="1416050"/>
                    </a:lnTo>
                    <a:cubicBezTo>
                      <a:pt x="34163" y="1416050"/>
                      <a:pt x="0" y="1368136"/>
                      <a:pt x="0" y="1309178"/>
                    </a:cubicBezTo>
                    <a:close/>
                  </a:path>
                </a:pathLst>
              </a:custGeom>
              <a:solidFill>
                <a:srgbClr val="F8FAFC"/>
              </a:solidFill>
            </p:spPr>
          </p:sp>
        </p:grpSp>
        <p:sp>
          <p:nvSpPr>
            <p:cNvPr name="TextBox 26" id="26"/>
            <p:cNvSpPr txBox="true"/>
            <p:nvPr/>
          </p:nvSpPr>
          <p:spPr>
            <a:xfrm rot="0">
              <a:off x="152400" y="88900"/>
              <a:ext cx="21043202" cy="12287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30"/>
                </a:lnSpc>
              </a:pPr>
              <a:r>
                <a:rPr lang="en-US" sz="2025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[9] D. Balkan and G. A. Akyuz,</a:t>
              </a:r>
              <a:r>
                <a:rPr lang="en-US" sz="2025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 “Artificial Intelligence (AI) and Machine Learning (ML) in Procurement and Purchasing Decision-Support (DS): A Taxonomic Literature Review and Research Opportunities,” Artificial Intelligence Review, 2025. doi: 10.1007/s10462-025-11336-1.</a:t>
              </a:r>
            </a:p>
          </p:txBody>
        </p:sp>
      </p:grp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>
  <p:cSld>
    <p:bg>
      <p:bgPr>
        <a:solidFill>
          <a:srgbClr val="FEDE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96533" y="781460"/>
            <a:ext cx="16494934" cy="8724081"/>
            <a:chOff x="0" y="0"/>
            <a:chExt cx="21993246" cy="11632108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15882" y="1821358"/>
              <a:ext cx="21945600" cy="1009650"/>
              <a:chOff x="0" y="0"/>
              <a:chExt cx="21945600" cy="1009650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21945600" cy="1009650"/>
              </a:xfrm>
              <a:custGeom>
                <a:avLst/>
                <a:gdLst/>
                <a:ahLst/>
                <a:cxnLst/>
                <a:rect r="r" b="b" t="t" l="l"/>
                <a:pathLst>
                  <a:path h="1009650" w="21945600">
                    <a:moveTo>
                      <a:pt x="0" y="76200"/>
                    </a:moveTo>
                    <a:cubicBezTo>
                      <a:pt x="0" y="34163"/>
                      <a:pt x="34163" y="0"/>
                      <a:pt x="76200" y="0"/>
                    </a:cubicBezTo>
                    <a:lnTo>
                      <a:pt x="21869400" y="0"/>
                    </a:lnTo>
                    <a:cubicBezTo>
                      <a:pt x="21911438" y="0"/>
                      <a:pt x="21945600" y="34163"/>
                      <a:pt x="21945600" y="76200"/>
                    </a:cubicBezTo>
                    <a:lnTo>
                      <a:pt x="21945600" y="933450"/>
                    </a:lnTo>
                    <a:cubicBezTo>
                      <a:pt x="21945600" y="975487"/>
                      <a:pt x="21911438" y="1009650"/>
                      <a:pt x="21869400" y="1009650"/>
                    </a:cubicBezTo>
                    <a:lnTo>
                      <a:pt x="76200" y="1009650"/>
                    </a:lnTo>
                    <a:cubicBezTo>
                      <a:pt x="34163" y="1009650"/>
                      <a:pt x="0" y="975487"/>
                      <a:pt x="0" y="933450"/>
                    </a:cubicBezTo>
                    <a:close/>
                  </a:path>
                </a:pathLst>
              </a:custGeom>
              <a:solidFill>
                <a:srgbClr val="F8FAFC"/>
              </a:solidFill>
            </p:spPr>
          </p:sp>
        </p:grpSp>
        <p:sp>
          <p:nvSpPr>
            <p:cNvPr name="TextBox 5" id="5"/>
            <p:cNvSpPr txBox="true"/>
            <p:nvPr/>
          </p:nvSpPr>
          <p:spPr>
            <a:xfrm rot="0">
              <a:off x="168282" y="1910258"/>
              <a:ext cx="21043202" cy="8223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30"/>
                </a:lnSpc>
              </a:pPr>
              <a:r>
                <a:rPr lang="en-US" sz="2025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[18] Z. W</a:t>
              </a:r>
              <a:r>
                <a:rPr lang="en-US" sz="2025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ang, “The Application of Deep Learning in User Purchase Behaviour Analysis and Marketing Decision Support,” International Journal of Computational Intelligence Systems, 2025. doi: 10.1007/s44196-025-00954-w.</a:t>
              </a:r>
            </a:p>
          </p:txBody>
        </p:sp>
        <p:grpSp>
          <p:nvGrpSpPr>
            <p:cNvPr name="Group 6" id="6"/>
            <p:cNvGrpSpPr/>
            <p:nvPr/>
          </p:nvGrpSpPr>
          <p:grpSpPr>
            <a:xfrm rot="0">
              <a:off x="47646" y="3288208"/>
              <a:ext cx="21945600" cy="1009650"/>
              <a:chOff x="0" y="0"/>
              <a:chExt cx="21945600" cy="100965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21945600" cy="1009650"/>
              </a:xfrm>
              <a:custGeom>
                <a:avLst/>
                <a:gdLst/>
                <a:ahLst/>
                <a:cxnLst/>
                <a:rect r="r" b="b" t="t" l="l"/>
                <a:pathLst>
                  <a:path h="1009650" w="21945600">
                    <a:moveTo>
                      <a:pt x="0" y="76200"/>
                    </a:moveTo>
                    <a:cubicBezTo>
                      <a:pt x="0" y="34163"/>
                      <a:pt x="34163" y="0"/>
                      <a:pt x="76200" y="0"/>
                    </a:cubicBezTo>
                    <a:lnTo>
                      <a:pt x="21869400" y="0"/>
                    </a:lnTo>
                    <a:cubicBezTo>
                      <a:pt x="21911438" y="0"/>
                      <a:pt x="21945600" y="34163"/>
                      <a:pt x="21945600" y="76200"/>
                    </a:cubicBezTo>
                    <a:lnTo>
                      <a:pt x="21945600" y="933450"/>
                    </a:lnTo>
                    <a:cubicBezTo>
                      <a:pt x="21945600" y="975487"/>
                      <a:pt x="21911438" y="1009650"/>
                      <a:pt x="21869400" y="1009650"/>
                    </a:cubicBezTo>
                    <a:lnTo>
                      <a:pt x="76200" y="1009650"/>
                    </a:lnTo>
                    <a:cubicBezTo>
                      <a:pt x="34163" y="1009650"/>
                      <a:pt x="0" y="975487"/>
                      <a:pt x="0" y="933450"/>
                    </a:cubicBezTo>
                    <a:close/>
                  </a:path>
                </a:pathLst>
              </a:custGeom>
              <a:solidFill>
                <a:srgbClr val="F8FAFC"/>
              </a:solidFill>
            </p:spPr>
          </p:sp>
        </p:grpSp>
        <p:sp>
          <p:nvSpPr>
            <p:cNvPr name="TextBox 8" id="8"/>
            <p:cNvSpPr txBox="true"/>
            <p:nvPr/>
          </p:nvSpPr>
          <p:spPr>
            <a:xfrm rot="0">
              <a:off x="200046" y="3377108"/>
              <a:ext cx="21043202" cy="8223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30"/>
                </a:lnSpc>
              </a:pPr>
              <a:r>
                <a:rPr lang="en-US" sz="2025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[19] Z. Lou et al., “Predicting</a:t>
              </a:r>
              <a:r>
                <a:rPr lang="en-US" sz="2025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 Customer Buying Habits Using Convolutional Neural Network,” Journal of Big Data, 2026. doi: 10.1186/s40537-026-01464-y.</a:t>
              </a:r>
            </a:p>
          </p:txBody>
        </p:sp>
        <p:grpSp>
          <p:nvGrpSpPr>
            <p:cNvPr name="Group 9" id="9"/>
            <p:cNvGrpSpPr/>
            <p:nvPr/>
          </p:nvGrpSpPr>
          <p:grpSpPr>
            <a:xfrm rot="0">
              <a:off x="47646" y="4755058"/>
              <a:ext cx="21945600" cy="1009650"/>
              <a:chOff x="0" y="0"/>
              <a:chExt cx="21945600" cy="100965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21945600" cy="1009650"/>
              </a:xfrm>
              <a:custGeom>
                <a:avLst/>
                <a:gdLst/>
                <a:ahLst/>
                <a:cxnLst/>
                <a:rect r="r" b="b" t="t" l="l"/>
                <a:pathLst>
                  <a:path h="1009650" w="21945600">
                    <a:moveTo>
                      <a:pt x="0" y="76200"/>
                    </a:moveTo>
                    <a:cubicBezTo>
                      <a:pt x="0" y="34163"/>
                      <a:pt x="34163" y="0"/>
                      <a:pt x="76200" y="0"/>
                    </a:cubicBezTo>
                    <a:lnTo>
                      <a:pt x="21869400" y="0"/>
                    </a:lnTo>
                    <a:cubicBezTo>
                      <a:pt x="21911438" y="0"/>
                      <a:pt x="21945600" y="34163"/>
                      <a:pt x="21945600" y="76200"/>
                    </a:cubicBezTo>
                    <a:lnTo>
                      <a:pt x="21945600" y="933450"/>
                    </a:lnTo>
                    <a:cubicBezTo>
                      <a:pt x="21945600" y="975487"/>
                      <a:pt x="21911438" y="1009650"/>
                      <a:pt x="21869400" y="1009650"/>
                    </a:cubicBezTo>
                    <a:lnTo>
                      <a:pt x="76200" y="1009650"/>
                    </a:lnTo>
                    <a:cubicBezTo>
                      <a:pt x="34163" y="1009650"/>
                      <a:pt x="0" y="975487"/>
                      <a:pt x="0" y="933450"/>
                    </a:cubicBezTo>
                    <a:close/>
                  </a:path>
                </a:pathLst>
              </a:custGeom>
              <a:solidFill>
                <a:srgbClr val="F8FAFC"/>
              </a:solidFill>
            </p:spPr>
          </p:sp>
        </p:grpSp>
        <p:sp>
          <p:nvSpPr>
            <p:cNvPr name="TextBox 11" id="11"/>
            <p:cNvSpPr txBox="true"/>
            <p:nvPr/>
          </p:nvSpPr>
          <p:spPr>
            <a:xfrm rot="0">
              <a:off x="200046" y="4843958"/>
              <a:ext cx="21043202" cy="8223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30"/>
                </a:lnSpc>
              </a:pPr>
              <a:r>
                <a:rPr lang="en-US" sz="2025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[20] L. Simon, “A Generalised Comparis</a:t>
              </a:r>
              <a:r>
                <a:rPr lang="en-US" sz="2025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on of Pareto/NBD Based Forecasts Using MCMC, Maximum Likelihood, and Heuristics,” Journal of Business Economics, 2025. doi: 10.1007/s11573-025-01237-8.</a:t>
              </a:r>
            </a:p>
          </p:txBody>
        </p:sp>
        <p:grpSp>
          <p:nvGrpSpPr>
            <p:cNvPr name="Group 12" id="12"/>
            <p:cNvGrpSpPr/>
            <p:nvPr/>
          </p:nvGrpSpPr>
          <p:grpSpPr>
            <a:xfrm rot="0">
              <a:off x="47646" y="6221908"/>
              <a:ext cx="21945600" cy="1009650"/>
              <a:chOff x="0" y="0"/>
              <a:chExt cx="21945600" cy="1009650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21945600" cy="1009650"/>
              </a:xfrm>
              <a:custGeom>
                <a:avLst/>
                <a:gdLst/>
                <a:ahLst/>
                <a:cxnLst/>
                <a:rect r="r" b="b" t="t" l="l"/>
                <a:pathLst>
                  <a:path h="1009650" w="21945600">
                    <a:moveTo>
                      <a:pt x="0" y="76200"/>
                    </a:moveTo>
                    <a:cubicBezTo>
                      <a:pt x="0" y="34163"/>
                      <a:pt x="34163" y="0"/>
                      <a:pt x="76200" y="0"/>
                    </a:cubicBezTo>
                    <a:lnTo>
                      <a:pt x="21869400" y="0"/>
                    </a:lnTo>
                    <a:cubicBezTo>
                      <a:pt x="21911438" y="0"/>
                      <a:pt x="21945600" y="34163"/>
                      <a:pt x="21945600" y="76200"/>
                    </a:cubicBezTo>
                    <a:lnTo>
                      <a:pt x="21945600" y="933450"/>
                    </a:lnTo>
                    <a:cubicBezTo>
                      <a:pt x="21945600" y="975487"/>
                      <a:pt x="21911438" y="1009650"/>
                      <a:pt x="21869400" y="1009650"/>
                    </a:cubicBezTo>
                    <a:lnTo>
                      <a:pt x="76200" y="1009650"/>
                    </a:lnTo>
                    <a:cubicBezTo>
                      <a:pt x="34163" y="1009650"/>
                      <a:pt x="0" y="975487"/>
                      <a:pt x="0" y="933450"/>
                    </a:cubicBezTo>
                    <a:close/>
                  </a:path>
                </a:pathLst>
              </a:custGeom>
              <a:solidFill>
                <a:srgbClr val="F8FAFC"/>
              </a:solidFill>
            </p:spPr>
          </p:sp>
        </p:grpSp>
        <p:sp>
          <p:nvSpPr>
            <p:cNvPr name="TextBox 14" id="14"/>
            <p:cNvSpPr txBox="true"/>
            <p:nvPr/>
          </p:nvSpPr>
          <p:spPr>
            <a:xfrm rot="0">
              <a:off x="200046" y="6310808"/>
              <a:ext cx="21043202" cy="8223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30"/>
                </a:lnSpc>
              </a:pPr>
              <a:r>
                <a:rPr lang="en-US" sz="2025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[21] H. Xia et al.,</a:t>
              </a:r>
              <a:r>
                <a:rPr lang="en-US" sz="2025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 “Integrated Machine Learning Model for Managing Customer-Driven End-to-End Supply Chain Uncertainty,” International Journal of Production Research, 2026. doi: 10.1080/00207543.2026.2648764.</a:t>
              </a:r>
            </a:p>
          </p:txBody>
        </p:sp>
        <p:grpSp>
          <p:nvGrpSpPr>
            <p:cNvPr name="Group 15" id="15"/>
            <p:cNvGrpSpPr/>
            <p:nvPr/>
          </p:nvGrpSpPr>
          <p:grpSpPr>
            <a:xfrm rot="0">
              <a:off x="47646" y="7688758"/>
              <a:ext cx="21945600" cy="1009650"/>
              <a:chOff x="0" y="0"/>
              <a:chExt cx="21945600" cy="1009650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21945600" cy="1009650"/>
              </a:xfrm>
              <a:custGeom>
                <a:avLst/>
                <a:gdLst/>
                <a:ahLst/>
                <a:cxnLst/>
                <a:rect r="r" b="b" t="t" l="l"/>
                <a:pathLst>
                  <a:path h="1009650" w="21945600">
                    <a:moveTo>
                      <a:pt x="0" y="76200"/>
                    </a:moveTo>
                    <a:cubicBezTo>
                      <a:pt x="0" y="34163"/>
                      <a:pt x="34163" y="0"/>
                      <a:pt x="76200" y="0"/>
                    </a:cubicBezTo>
                    <a:lnTo>
                      <a:pt x="21869400" y="0"/>
                    </a:lnTo>
                    <a:cubicBezTo>
                      <a:pt x="21911438" y="0"/>
                      <a:pt x="21945600" y="34163"/>
                      <a:pt x="21945600" y="76200"/>
                    </a:cubicBezTo>
                    <a:lnTo>
                      <a:pt x="21945600" y="933450"/>
                    </a:lnTo>
                    <a:cubicBezTo>
                      <a:pt x="21945600" y="975487"/>
                      <a:pt x="21911438" y="1009650"/>
                      <a:pt x="21869400" y="1009650"/>
                    </a:cubicBezTo>
                    <a:lnTo>
                      <a:pt x="76200" y="1009650"/>
                    </a:lnTo>
                    <a:cubicBezTo>
                      <a:pt x="34163" y="1009650"/>
                      <a:pt x="0" y="975487"/>
                      <a:pt x="0" y="933450"/>
                    </a:cubicBezTo>
                    <a:close/>
                  </a:path>
                </a:pathLst>
              </a:custGeom>
              <a:solidFill>
                <a:srgbClr val="F8FAFC"/>
              </a:solidFill>
            </p:spPr>
          </p:sp>
        </p:grpSp>
        <p:sp>
          <p:nvSpPr>
            <p:cNvPr name="TextBox 17" id="17"/>
            <p:cNvSpPr txBox="true"/>
            <p:nvPr/>
          </p:nvSpPr>
          <p:spPr>
            <a:xfrm rot="0">
              <a:off x="200046" y="7777658"/>
              <a:ext cx="21043202" cy="8223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30"/>
                </a:lnSpc>
              </a:pPr>
              <a:r>
                <a:rPr lang="en-US" sz="2025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[22] M. Wyrembek et al.,</a:t>
              </a:r>
              <a:r>
                <a:rPr lang="en-US" sz="2025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 “Causal Machine Learning for Supply Chain Risk Prediction and Intervention Planning,” International Journal of Production Research, 2025. doi: 10.1080/00207543.2025.2458121.</a:t>
              </a:r>
            </a:p>
          </p:txBody>
        </p:sp>
        <p:grpSp>
          <p:nvGrpSpPr>
            <p:cNvPr name="Group 18" id="18"/>
            <p:cNvGrpSpPr/>
            <p:nvPr/>
          </p:nvGrpSpPr>
          <p:grpSpPr>
            <a:xfrm rot="0">
              <a:off x="47646" y="9155608"/>
              <a:ext cx="21945600" cy="1009650"/>
              <a:chOff x="0" y="0"/>
              <a:chExt cx="21945600" cy="1009650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21945600" cy="1009650"/>
              </a:xfrm>
              <a:custGeom>
                <a:avLst/>
                <a:gdLst/>
                <a:ahLst/>
                <a:cxnLst/>
                <a:rect r="r" b="b" t="t" l="l"/>
                <a:pathLst>
                  <a:path h="1009650" w="21945600">
                    <a:moveTo>
                      <a:pt x="0" y="76200"/>
                    </a:moveTo>
                    <a:cubicBezTo>
                      <a:pt x="0" y="34163"/>
                      <a:pt x="34163" y="0"/>
                      <a:pt x="76200" y="0"/>
                    </a:cubicBezTo>
                    <a:lnTo>
                      <a:pt x="21869400" y="0"/>
                    </a:lnTo>
                    <a:cubicBezTo>
                      <a:pt x="21911438" y="0"/>
                      <a:pt x="21945600" y="34163"/>
                      <a:pt x="21945600" y="76200"/>
                    </a:cubicBezTo>
                    <a:lnTo>
                      <a:pt x="21945600" y="933450"/>
                    </a:lnTo>
                    <a:cubicBezTo>
                      <a:pt x="21945600" y="975487"/>
                      <a:pt x="21911438" y="1009650"/>
                      <a:pt x="21869400" y="1009650"/>
                    </a:cubicBezTo>
                    <a:lnTo>
                      <a:pt x="76200" y="1009650"/>
                    </a:lnTo>
                    <a:cubicBezTo>
                      <a:pt x="34163" y="1009650"/>
                      <a:pt x="0" y="975487"/>
                      <a:pt x="0" y="933450"/>
                    </a:cubicBezTo>
                    <a:close/>
                  </a:path>
                </a:pathLst>
              </a:custGeom>
              <a:solidFill>
                <a:srgbClr val="F8FAFC"/>
              </a:solidFill>
            </p:spPr>
          </p:sp>
        </p:grpSp>
        <p:sp>
          <p:nvSpPr>
            <p:cNvPr name="TextBox 20" id="20"/>
            <p:cNvSpPr txBox="true"/>
            <p:nvPr/>
          </p:nvSpPr>
          <p:spPr>
            <a:xfrm rot="0">
              <a:off x="200046" y="9244508"/>
              <a:ext cx="21043202" cy="8223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30"/>
                </a:lnSpc>
              </a:pPr>
              <a:r>
                <a:rPr lang="en-US" sz="2025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[23] M. A. Khaled et al.,</a:t>
              </a:r>
              <a:r>
                <a:rPr lang="en-US" sz="2025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 “Machine Learning Approaches for Early Prediction of Supply-Chain Disruptions and Operational Risks,” Journal of Information Systems Engineering and Management, 2024. doi: 10.52783/jisem.v9i4s.14812.</a:t>
              </a:r>
            </a:p>
          </p:txBody>
        </p:sp>
        <p:grpSp>
          <p:nvGrpSpPr>
            <p:cNvPr name="Group 21" id="21"/>
            <p:cNvGrpSpPr/>
            <p:nvPr/>
          </p:nvGrpSpPr>
          <p:grpSpPr>
            <a:xfrm rot="0">
              <a:off x="15882" y="10622458"/>
              <a:ext cx="21945600" cy="1009650"/>
              <a:chOff x="0" y="0"/>
              <a:chExt cx="21945600" cy="1009650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21945600" cy="1009650"/>
              </a:xfrm>
              <a:custGeom>
                <a:avLst/>
                <a:gdLst/>
                <a:ahLst/>
                <a:cxnLst/>
                <a:rect r="r" b="b" t="t" l="l"/>
                <a:pathLst>
                  <a:path h="1009650" w="21945600">
                    <a:moveTo>
                      <a:pt x="0" y="76200"/>
                    </a:moveTo>
                    <a:cubicBezTo>
                      <a:pt x="0" y="34163"/>
                      <a:pt x="34163" y="0"/>
                      <a:pt x="76200" y="0"/>
                    </a:cubicBezTo>
                    <a:lnTo>
                      <a:pt x="21869400" y="0"/>
                    </a:lnTo>
                    <a:cubicBezTo>
                      <a:pt x="21911438" y="0"/>
                      <a:pt x="21945600" y="34163"/>
                      <a:pt x="21945600" y="76200"/>
                    </a:cubicBezTo>
                    <a:lnTo>
                      <a:pt x="21945600" y="933450"/>
                    </a:lnTo>
                    <a:cubicBezTo>
                      <a:pt x="21945600" y="975487"/>
                      <a:pt x="21911438" y="1009650"/>
                      <a:pt x="21869400" y="1009650"/>
                    </a:cubicBezTo>
                    <a:lnTo>
                      <a:pt x="76200" y="1009650"/>
                    </a:lnTo>
                    <a:cubicBezTo>
                      <a:pt x="34163" y="1009650"/>
                      <a:pt x="0" y="975487"/>
                      <a:pt x="0" y="933450"/>
                    </a:cubicBezTo>
                    <a:close/>
                  </a:path>
                </a:pathLst>
              </a:custGeom>
              <a:solidFill>
                <a:srgbClr val="F8FAFC"/>
              </a:solidFill>
            </p:spPr>
          </p:sp>
        </p:grpSp>
        <p:sp>
          <p:nvSpPr>
            <p:cNvPr name="TextBox 23" id="23"/>
            <p:cNvSpPr txBox="true"/>
            <p:nvPr/>
          </p:nvSpPr>
          <p:spPr>
            <a:xfrm rot="0">
              <a:off x="168282" y="10711358"/>
              <a:ext cx="21043202" cy="8223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30"/>
                </a:lnSpc>
              </a:pPr>
              <a:r>
                <a:rPr lang="en-US" sz="2025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[24] L. González-Flores et al., “Th</a:t>
              </a:r>
              <a:r>
                <a:rPr lang="en-US" sz="2025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e Relevance of Lead Prioritization: A B2B Lead Scoring Model Based on Machine Learning,” Frontiers in Artificial Intelligence, 2025. doi: 10.3389/frai.2025.1554325.</a:t>
              </a:r>
            </a:p>
          </p:txBody>
        </p:sp>
        <p:grpSp>
          <p:nvGrpSpPr>
            <p:cNvPr name="Group 24" id="24"/>
            <p:cNvGrpSpPr/>
            <p:nvPr/>
          </p:nvGrpSpPr>
          <p:grpSpPr>
            <a:xfrm rot="0">
              <a:off x="0" y="0"/>
              <a:ext cx="21945600" cy="1416050"/>
              <a:chOff x="0" y="0"/>
              <a:chExt cx="21945600" cy="1416050"/>
            </a:xfrm>
          </p:grpSpPr>
          <p:sp>
            <p:nvSpPr>
              <p:cNvPr name="Freeform 25" id="25"/>
              <p:cNvSpPr/>
              <p:nvPr/>
            </p:nvSpPr>
            <p:spPr>
              <a:xfrm flipH="false" flipV="false" rot="0">
                <a:off x="0" y="0"/>
                <a:ext cx="21945600" cy="1416050"/>
              </a:xfrm>
              <a:custGeom>
                <a:avLst/>
                <a:gdLst/>
                <a:ahLst/>
                <a:cxnLst/>
                <a:rect r="r" b="b" t="t" l="l"/>
                <a:pathLst>
                  <a:path h="1416050" w="21945600">
                    <a:moveTo>
                      <a:pt x="0" y="106872"/>
                    </a:moveTo>
                    <a:cubicBezTo>
                      <a:pt x="0" y="47914"/>
                      <a:pt x="34163" y="0"/>
                      <a:pt x="76200" y="0"/>
                    </a:cubicBezTo>
                    <a:lnTo>
                      <a:pt x="21869400" y="0"/>
                    </a:lnTo>
                    <a:cubicBezTo>
                      <a:pt x="21911438" y="0"/>
                      <a:pt x="21945600" y="47914"/>
                      <a:pt x="21945600" y="106872"/>
                    </a:cubicBezTo>
                    <a:lnTo>
                      <a:pt x="21945600" y="1309178"/>
                    </a:lnTo>
                    <a:cubicBezTo>
                      <a:pt x="21945600" y="1368136"/>
                      <a:pt x="21911438" y="1416050"/>
                      <a:pt x="21869400" y="1416050"/>
                    </a:cubicBezTo>
                    <a:lnTo>
                      <a:pt x="76200" y="1416050"/>
                    </a:lnTo>
                    <a:cubicBezTo>
                      <a:pt x="34163" y="1416050"/>
                      <a:pt x="0" y="1368136"/>
                      <a:pt x="0" y="1309178"/>
                    </a:cubicBezTo>
                    <a:close/>
                  </a:path>
                </a:pathLst>
              </a:custGeom>
              <a:solidFill>
                <a:srgbClr val="F8FAFC"/>
              </a:solidFill>
            </p:spPr>
          </p:sp>
        </p:grpSp>
        <p:sp>
          <p:nvSpPr>
            <p:cNvPr name="TextBox 26" id="26"/>
            <p:cNvSpPr txBox="true"/>
            <p:nvPr/>
          </p:nvSpPr>
          <p:spPr>
            <a:xfrm rot="0">
              <a:off x="152400" y="88900"/>
              <a:ext cx="21043202" cy="8223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30"/>
                </a:lnSpc>
              </a:pPr>
              <a:r>
                <a:rPr lang="en-US" sz="2025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[17] T. Stylianou and A. P</a:t>
              </a:r>
              <a:r>
                <a:rPr lang="en-US" sz="2025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antelidou, “A Machine Learning Approach to Consumer Behavior in Supermarket Analytics,” Decision Analytics Journal, 2025. doi: 10.1016/j.dajour.2025.100600.</a:t>
              </a:r>
            </a:p>
          </p:txBody>
        </p:sp>
      </p:grp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>
  <p:cSld>
    <p:bg>
      <p:bgPr>
        <a:solidFill>
          <a:srgbClr val="FEDE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08444" y="2147478"/>
            <a:ext cx="16459200" cy="757238"/>
            <a:chOff x="0" y="0"/>
            <a:chExt cx="21945600" cy="10096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1009650"/>
            </a:xfrm>
            <a:custGeom>
              <a:avLst/>
              <a:gdLst/>
              <a:ahLst/>
              <a:cxnLst/>
              <a:rect r="r" b="b" t="t" l="l"/>
              <a:pathLst>
                <a:path h="1009650" w="21945600">
                  <a:moveTo>
                    <a:pt x="0" y="76200"/>
                  </a:moveTo>
                  <a:cubicBezTo>
                    <a:pt x="0" y="34163"/>
                    <a:pt x="34163" y="0"/>
                    <a:pt x="76200" y="0"/>
                  </a:cubicBezTo>
                  <a:lnTo>
                    <a:pt x="21869400" y="0"/>
                  </a:lnTo>
                  <a:cubicBezTo>
                    <a:pt x="21911438" y="0"/>
                    <a:pt x="21945600" y="34163"/>
                    <a:pt x="21945600" y="76200"/>
                  </a:cubicBezTo>
                  <a:lnTo>
                    <a:pt x="21945600" y="933450"/>
                  </a:lnTo>
                  <a:cubicBezTo>
                    <a:pt x="21945600" y="975487"/>
                    <a:pt x="21911438" y="1009650"/>
                    <a:pt x="21869400" y="1009650"/>
                  </a:cubicBezTo>
                  <a:lnTo>
                    <a:pt x="76200" y="1009650"/>
                  </a:lnTo>
                  <a:cubicBezTo>
                    <a:pt x="34163" y="1009650"/>
                    <a:pt x="0" y="975487"/>
                    <a:pt x="0" y="933450"/>
                  </a:cubicBezTo>
                  <a:close/>
                </a:path>
              </a:pathLst>
            </a:custGeom>
            <a:solidFill>
              <a:srgbClr val="F8FAFC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1022744" y="2211772"/>
            <a:ext cx="15782402" cy="619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[26] Governme</a:t>
            </a:r>
            <a:r>
              <a:rPr lang="en-US" sz="2025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nt of India, Ministry of Commerce &amp; Industry, “Government e-Marketplace: AI and Machine Learning Applications in Public Procurement,” Press Information Bureau, 2026.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932267" y="3247615"/>
            <a:ext cx="16459200" cy="757238"/>
            <a:chOff x="0" y="0"/>
            <a:chExt cx="21945600" cy="100965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45600" cy="1009650"/>
            </a:xfrm>
            <a:custGeom>
              <a:avLst/>
              <a:gdLst/>
              <a:ahLst/>
              <a:cxnLst/>
              <a:rect r="r" b="b" t="t" l="l"/>
              <a:pathLst>
                <a:path h="1009650" w="21945600">
                  <a:moveTo>
                    <a:pt x="0" y="76200"/>
                  </a:moveTo>
                  <a:cubicBezTo>
                    <a:pt x="0" y="34163"/>
                    <a:pt x="34163" y="0"/>
                    <a:pt x="76200" y="0"/>
                  </a:cubicBezTo>
                  <a:lnTo>
                    <a:pt x="21869400" y="0"/>
                  </a:lnTo>
                  <a:cubicBezTo>
                    <a:pt x="21911438" y="0"/>
                    <a:pt x="21945600" y="34163"/>
                    <a:pt x="21945600" y="76200"/>
                  </a:cubicBezTo>
                  <a:lnTo>
                    <a:pt x="21945600" y="933450"/>
                  </a:lnTo>
                  <a:cubicBezTo>
                    <a:pt x="21945600" y="975487"/>
                    <a:pt x="21911438" y="1009650"/>
                    <a:pt x="21869400" y="1009650"/>
                  </a:cubicBezTo>
                  <a:lnTo>
                    <a:pt x="76200" y="1009650"/>
                  </a:lnTo>
                  <a:cubicBezTo>
                    <a:pt x="34163" y="1009650"/>
                    <a:pt x="0" y="975487"/>
                    <a:pt x="0" y="933450"/>
                  </a:cubicBezTo>
                  <a:close/>
                </a:path>
              </a:pathLst>
            </a:custGeom>
            <a:solidFill>
              <a:srgbClr val="F8FAFC"/>
            </a:solidFill>
          </p:spPr>
        </p:sp>
      </p:grpSp>
      <p:sp>
        <p:nvSpPr>
          <p:cNvPr name="TextBox 7" id="7"/>
          <p:cNvSpPr txBox="true"/>
          <p:nvPr/>
        </p:nvSpPr>
        <p:spPr>
          <a:xfrm rot="0">
            <a:off x="1046567" y="3311909"/>
            <a:ext cx="15782402" cy="619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[27] “Examining the Effect</a:t>
            </a:r>
            <a:r>
              <a:rPr lang="en-US" sz="2025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 of AI-BDA on Manufacturing Firm Performance: An Indian Approach,” International Journal of Information Management Data Insights, 2025. doi: 10.1016/j.jjimei.2024.100306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932267" y="4347753"/>
            <a:ext cx="16423466" cy="1060855"/>
            <a:chOff x="0" y="0"/>
            <a:chExt cx="22075218" cy="142592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075218" cy="1425924"/>
            </a:xfrm>
            <a:custGeom>
              <a:avLst/>
              <a:gdLst/>
              <a:ahLst/>
              <a:cxnLst/>
              <a:rect r="r" b="b" t="t" l="l"/>
              <a:pathLst>
                <a:path h="1425924" w="22075218">
                  <a:moveTo>
                    <a:pt x="0" y="107617"/>
                  </a:moveTo>
                  <a:cubicBezTo>
                    <a:pt x="0" y="48248"/>
                    <a:pt x="34365" y="0"/>
                    <a:pt x="76650" y="0"/>
                  </a:cubicBezTo>
                  <a:lnTo>
                    <a:pt x="21998567" y="0"/>
                  </a:lnTo>
                  <a:cubicBezTo>
                    <a:pt x="22040855" y="0"/>
                    <a:pt x="22075218" y="48248"/>
                    <a:pt x="22075218" y="107617"/>
                  </a:cubicBezTo>
                  <a:lnTo>
                    <a:pt x="22075218" y="1318307"/>
                  </a:lnTo>
                  <a:cubicBezTo>
                    <a:pt x="22075218" y="1377676"/>
                    <a:pt x="22040855" y="1425924"/>
                    <a:pt x="21998567" y="1425924"/>
                  </a:cubicBezTo>
                  <a:lnTo>
                    <a:pt x="76650" y="1425924"/>
                  </a:lnTo>
                  <a:cubicBezTo>
                    <a:pt x="34365" y="1425924"/>
                    <a:pt x="0" y="1377676"/>
                    <a:pt x="0" y="1318307"/>
                  </a:cubicBezTo>
                  <a:close/>
                </a:path>
              </a:pathLst>
            </a:custGeom>
            <a:solidFill>
              <a:srgbClr val="F8FAFC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046567" y="4412047"/>
            <a:ext cx="15782402" cy="923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[28] J. M. Spreitzenbarth et al., “Artificial Intelligence and Machi</a:t>
            </a:r>
            <a:r>
              <a:rPr lang="en-US" sz="2025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ne Learning in Purchasing and Supply Management: A Mixed-Methods Review of the State-of-the-Art in Literature and Practice,” Journal of Purchasing and Supply Management, 2024. doi: 10.1016/j.pursup.2024.100896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896533" y="781460"/>
            <a:ext cx="16459200" cy="1062038"/>
            <a:chOff x="0" y="0"/>
            <a:chExt cx="21945600" cy="141605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1945600" cy="1416050"/>
            </a:xfrm>
            <a:custGeom>
              <a:avLst/>
              <a:gdLst/>
              <a:ahLst/>
              <a:cxnLst/>
              <a:rect r="r" b="b" t="t" l="l"/>
              <a:pathLst>
                <a:path h="1416050" w="21945600">
                  <a:moveTo>
                    <a:pt x="0" y="106872"/>
                  </a:moveTo>
                  <a:cubicBezTo>
                    <a:pt x="0" y="47914"/>
                    <a:pt x="34163" y="0"/>
                    <a:pt x="76200" y="0"/>
                  </a:cubicBezTo>
                  <a:lnTo>
                    <a:pt x="21869400" y="0"/>
                  </a:lnTo>
                  <a:cubicBezTo>
                    <a:pt x="21911438" y="0"/>
                    <a:pt x="21945600" y="47914"/>
                    <a:pt x="21945600" y="106872"/>
                  </a:cubicBezTo>
                  <a:lnTo>
                    <a:pt x="21945600" y="1309178"/>
                  </a:lnTo>
                  <a:cubicBezTo>
                    <a:pt x="21945600" y="1368136"/>
                    <a:pt x="21911438" y="1416050"/>
                    <a:pt x="21869400" y="1416050"/>
                  </a:cubicBezTo>
                  <a:lnTo>
                    <a:pt x="76200" y="1416050"/>
                  </a:lnTo>
                  <a:cubicBezTo>
                    <a:pt x="34163" y="1416050"/>
                    <a:pt x="0" y="1368136"/>
                    <a:pt x="0" y="1309178"/>
                  </a:cubicBezTo>
                  <a:close/>
                </a:path>
              </a:pathLst>
            </a:custGeom>
            <a:solidFill>
              <a:srgbClr val="F8FAFC"/>
            </a:soli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1010833" y="845753"/>
            <a:ext cx="15782402" cy="619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[25] D. O’Brien and R. E. Ku</a:t>
            </a:r>
            <a:r>
              <a:rPr lang="en-US" sz="2025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nz, “Will They Stay or Will They Go? Application of Machine Learning Classifiers of Purchase and Churn Prediction to a Digital Journalistic Platform,” Journal of Media Business Studies, 2025. doi: 10.1080/16522354.2024.2444075.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>
  <p:cSld>
    <p:bg>
      <p:bgPr>
        <a:solidFill>
          <a:srgbClr val="7002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-1418007" y="4675877"/>
            <a:ext cx="16230600" cy="35305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56"/>
              </a:lnSpc>
            </a:pPr>
            <a:r>
              <a:rPr lang="en-US" sz="29713" spc="-1455">
                <a:solidFill>
                  <a:srgbClr val="000000">
                    <a:alpha val="14902"/>
                  </a:srgbClr>
                </a:solidFill>
                <a:latin typeface="Anton"/>
                <a:ea typeface="Anton"/>
                <a:cs typeface="Anton"/>
                <a:sym typeface="Anton"/>
              </a:rPr>
              <a:t>THANK YOU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-1418007" y="1447800"/>
            <a:ext cx="16230600" cy="35305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56"/>
              </a:lnSpc>
            </a:pPr>
            <a:r>
              <a:rPr lang="en-US" sz="29713" spc="-1455">
                <a:solidFill>
                  <a:srgbClr val="FEDEE1"/>
                </a:solidFill>
                <a:latin typeface="Anton"/>
                <a:ea typeface="Anton"/>
                <a:cs typeface="Anton"/>
                <a:sym typeface="Anton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DAHW7Byqo14</dc:identifier>
  <dcterms:modified xsi:type="dcterms:W3CDTF">2011-08-01T06:04:30Z</dcterms:modified>
  <cp:revision>1</cp:revision>
  <dc:title>Machine Learning-Based Early Detection of Temporal Anomalies in B2B Procurement Using Customer–Part Purchase Patterns</dc:title>
</cp:coreProperties>
</file>